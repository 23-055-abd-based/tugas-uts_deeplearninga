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Calibri" panose="020F0502020204030204" pitchFamily="34" charset="0"/>
      <p:regular r:id="rId15"/>
      <p:bold r:id="rId16"/>
      <p:italic r:id="rId17"/>
      <p:boldItalic r:id="rId18"/>
    </p:embeddedFont>
    <p:embeddedFont>
      <p:font typeface="RQND Pro UltraWide" panose="020B0604020202020204" charset="0"/>
      <p:regular r:id="rId19"/>
    </p:embeddedFont>
    <p:embeddedFont>
      <p:font typeface="Telegraf" panose="020B0604020202020204" charset="0"/>
      <p:regular r:id="rId20"/>
    </p:embeddedFont>
    <p:embeddedFont>
      <p:font typeface="Telegraf Bold"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5" d="100"/>
          <a:sy n="65" d="100"/>
        </p:scale>
        <p:origin x="82" y="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image" Target="../media/image7.png"/><Relationship Id="rId7"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5.svg"/><Relationship Id="rId4" Type="http://schemas.openxmlformats.org/officeDocument/2006/relationships/image" Target="../media/image8.svg"/><Relationship Id="rId9"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11.png"/><Relationship Id="rId7"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2.sv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8.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png"/><Relationship Id="rId7"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21.png"/></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png"/><Relationship Id="rId7" Type="http://schemas.openxmlformats.org/officeDocument/2006/relationships/image" Target="../media/image22.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1.png"/><Relationship Id="rId7" Type="http://schemas.openxmlformats.org/officeDocument/2006/relationships/image" Target="../media/image3.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25.jpeg"/><Relationship Id="rId4" Type="http://schemas.openxmlformats.org/officeDocument/2006/relationships/image" Target="../media/image12.svg"/><Relationship Id="rId9" Type="http://schemas.openxmlformats.org/officeDocument/2006/relationships/image" Target="../media/image5.svg"/></Relationships>
</file>

<file path=ppt/slides/_rels/slide13.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26.png"/><Relationship Id="rId7"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2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grpSp>
        <p:nvGrpSpPr>
          <p:cNvPr id="3" name="Group 3"/>
          <p:cNvGrpSpPr/>
          <p:nvPr/>
        </p:nvGrpSpPr>
        <p:grpSpPr>
          <a:xfrm>
            <a:off x="1028700" y="611864"/>
            <a:ext cx="2704510" cy="416836"/>
            <a:chOff x="0" y="0"/>
            <a:chExt cx="712299" cy="109784"/>
          </a:xfrm>
        </p:grpSpPr>
        <p:sp>
          <p:nvSpPr>
            <p:cNvPr id="4" name="Freeform 4"/>
            <p:cNvSpPr/>
            <p:nvPr/>
          </p:nvSpPr>
          <p:spPr>
            <a:xfrm>
              <a:off x="0" y="0"/>
              <a:ext cx="712299" cy="109784"/>
            </a:xfrm>
            <a:custGeom>
              <a:avLst/>
              <a:gdLst/>
              <a:ahLst/>
              <a:cxnLst/>
              <a:rect l="l" t="t" r="r" b="b"/>
              <a:pathLst>
                <a:path w="712299" h="109784">
                  <a:moveTo>
                    <a:pt x="54892" y="0"/>
                  </a:moveTo>
                  <a:lnTo>
                    <a:pt x="657407" y="0"/>
                  </a:lnTo>
                  <a:cubicBezTo>
                    <a:pt x="671965" y="0"/>
                    <a:pt x="685927" y="5783"/>
                    <a:pt x="696221" y="16077"/>
                  </a:cubicBezTo>
                  <a:cubicBezTo>
                    <a:pt x="706516" y="26372"/>
                    <a:pt x="712299" y="40334"/>
                    <a:pt x="712299" y="54892"/>
                  </a:cubicBezTo>
                  <a:lnTo>
                    <a:pt x="712299" y="54892"/>
                  </a:lnTo>
                  <a:cubicBezTo>
                    <a:pt x="712299" y="85208"/>
                    <a:pt x="687723" y="109784"/>
                    <a:pt x="657407"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ln w="9525" cap="rnd">
              <a:solidFill>
                <a:srgbClr val="FFFFFF">
                  <a:alpha val="49804"/>
                </a:srgbClr>
              </a:solidFill>
              <a:prstDash val="solid"/>
              <a:round/>
            </a:ln>
          </p:spPr>
        </p:sp>
        <p:sp>
          <p:nvSpPr>
            <p:cNvPr id="5" name="TextBox 5"/>
            <p:cNvSpPr txBox="1"/>
            <p:nvPr/>
          </p:nvSpPr>
          <p:spPr>
            <a:xfrm>
              <a:off x="0" y="-38100"/>
              <a:ext cx="712299" cy="147884"/>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5558984" y="611864"/>
            <a:ext cx="1179483" cy="416836"/>
            <a:chOff x="0" y="0"/>
            <a:chExt cx="310646" cy="109784"/>
          </a:xfrm>
        </p:grpSpPr>
        <p:sp>
          <p:nvSpPr>
            <p:cNvPr id="7" name="Freeform 7"/>
            <p:cNvSpPr/>
            <p:nvPr/>
          </p:nvSpPr>
          <p:spPr>
            <a:xfrm>
              <a:off x="0" y="0"/>
              <a:ext cx="310646" cy="109784"/>
            </a:xfrm>
            <a:custGeom>
              <a:avLst/>
              <a:gdLst/>
              <a:ahLst/>
              <a:cxnLst/>
              <a:rect l="l" t="t" r="r" b="b"/>
              <a:pathLst>
                <a:path w="310646" h="109784">
                  <a:moveTo>
                    <a:pt x="54892" y="0"/>
                  </a:moveTo>
                  <a:lnTo>
                    <a:pt x="255754" y="0"/>
                  </a:lnTo>
                  <a:cubicBezTo>
                    <a:pt x="286070" y="0"/>
                    <a:pt x="310646" y="24576"/>
                    <a:pt x="310646" y="54892"/>
                  </a:cubicBezTo>
                  <a:lnTo>
                    <a:pt x="310646" y="54892"/>
                  </a:lnTo>
                  <a:cubicBezTo>
                    <a:pt x="310646" y="69450"/>
                    <a:pt x="304862" y="83412"/>
                    <a:pt x="294568" y="93706"/>
                  </a:cubicBezTo>
                  <a:cubicBezTo>
                    <a:pt x="284274" y="104001"/>
                    <a:pt x="270312" y="109784"/>
                    <a:pt x="255754"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ln w="9525" cap="rnd">
              <a:solidFill>
                <a:srgbClr val="FFFFFF">
                  <a:alpha val="49804"/>
                </a:srgbClr>
              </a:solidFill>
              <a:prstDash val="solid"/>
              <a:round/>
            </a:ln>
          </p:spPr>
        </p:sp>
        <p:sp>
          <p:nvSpPr>
            <p:cNvPr id="8" name="TextBox 8"/>
            <p:cNvSpPr txBox="1"/>
            <p:nvPr/>
          </p:nvSpPr>
          <p:spPr>
            <a:xfrm>
              <a:off x="0" y="-38100"/>
              <a:ext cx="310646" cy="14788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8111064" y="8841464"/>
            <a:ext cx="2065873" cy="416836"/>
            <a:chOff x="0" y="0"/>
            <a:chExt cx="544098" cy="109784"/>
          </a:xfrm>
        </p:grpSpPr>
        <p:sp>
          <p:nvSpPr>
            <p:cNvPr id="10" name="Freeform 10"/>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ln w="9525" cap="rnd">
              <a:solidFill>
                <a:srgbClr val="3B4C7D"/>
              </a:solidFill>
              <a:prstDash val="solid"/>
              <a:round/>
            </a:ln>
          </p:spPr>
        </p:sp>
        <p:sp>
          <p:nvSpPr>
            <p:cNvPr id="11" name="TextBox 11"/>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16842464" y="611864"/>
            <a:ext cx="416836" cy="416836"/>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ln w="9525" cap="rnd">
              <a:solidFill>
                <a:srgbClr val="FFFFFF">
                  <a:alpha val="49804"/>
                </a:srgbClr>
              </a:solidFill>
              <a:prstDash val="solid"/>
              <a:round/>
            </a:ln>
          </p:spPr>
        </p:sp>
        <p:sp>
          <p:nvSpPr>
            <p:cNvPr id="14" name="TextBox 14"/>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5" name="Freeform 15"/>
          <p:cNvSpPr/>
          <p:nvPr/>
        </p:nvSpPr>
        <p:spPr>
          <a:xfrm>
            <a:off x="16954260" y="755908"/>
            <a:ext cx="193244" cy="128749"/>
          </a:xfrm>
          <a:custGeom>
            <a:avLst/>
            <a:gdLst/>
            <a:ahLst/>
            <a:cxnLst/>
            <a:rect l="l" t="t" r="r" b="b"/>
            <a:pathLst>
              <a:path w="193244" h="128749">
                <a:moveTo>
                  <a:pt x="0" y="0"/>
                </a:moveTo>
                <a:lnTo>
                  <a:pt x="193244" y="0"/>
                </a:lnTo>
                <a:lnTo>
                  <a:pt x="193244" y="128749"/>
                </a:lnTo>
                <a:lnTo>
                  <a:pt x="0" y="1287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6" name="Freeform 16"/>
          <p:cNvSpPr/>
          <p:nvPr/>
        </p:nvSpPr>
        <p:spPr>
          <a:xfrm>
            <a:off x="3386715" y="735023"/>
            <a:ext cx="170453" cy="170453"/>
          </a:xfrm>
          <a:custGeom>
            <a:avLst/>
            <a:gdLst/>
            <a:ahLst/>
            <a:cxnLst/>
            <a:rect l="l" t="t" r="r" b="b"/>
            <a:pathLst>
              <a:path w="170453" h="170453">
                <a:moveTo>
                  <a:pt x="0" y="0"/>
                </a:moveTo>
                <a:lnTo>
                  <a:pt x="170453" y="0"/>
                </a:lnTo>
                <a:lnTo>
                  <a:pt x="170453" y="170452"/>
                </a:lnTo>
                <a:lnTo>
                  <a:pt x="0" y="17045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7" name="TextBox 17"/>
          <p:cNvSpPr txBox="1"/>
          <p:nvPr/>
        </p:nvSpPr>
        <p:spPr>
          <a:xfrm>
            <a:off x="1530157" y="2804874"/>
            <a:ext cx="16320899" cy="5024561"/>
          </a:xfrm>
          <a:prstGeom prst="rect">
            <a:avLst/>
          </a:prstGeom>
        </p:spPr>
        <p:txBody>
          <a:bodyPr lIns="0" tIns="0" rIns="0" bIns="0" rtlCol="0" anchor="t">
            <a:spAutoFit/>
          </a:bodyPr>
          <a:lstStyle/>
          <a:p>
            <a:pPr algn="ctr">
              <a:lnSpc>
                <a:spcPts val="7993"/>
              </a:lnSpc>
              <a:spcBef>
                <a:spcPct val="0"/>
              </a:spcBef>
            </a:pPr>
            <a:r>
              <a:rPr lang="en-US" sz="5709">
                <a:solidFill>
                  <a:srgbClr val="DEF0FF"/>
                </a:solidFill>
                <a:latin typeface="RQND Pro UltraWide"/>
                <a:ea typeface="RQND Pro UltraWide"/>
                <a:cs typeface="RQND Pro UltraWide"/>
                <a:sym typeface="RQND Pro UltraWide"/>
              </a:rPr>
              <a:t>Analisis Pengaruh Transfer Learning, Augmentasi Data, dan Fine-Tuning pada Klasifikasi Penyakit Daun Cabai Menggunakan MobileNetV3-Small</a:t>
            </a:r>
          </a:p>
        </p:txBody>
      </p:sp>
      <p:sp>
        <p:nvSpPr>
          <p:cNvPr id="18" name="TextBox 18"/>
          <p:cNvSpPr txBox="1"/>
          <p:nvPr/>
        </p:nvSpPr>
        <p:spPr>
          <a:xfrm>
            <a:off x="5921963" y="1777783"/>
            <a:ext cx="6619881" cy="427080"/>
          </a:xfrm>
          <a:prstGeom prst="rect">
            <a:avLst/>
          </a:prstGeom>
        </p:spPr>
        <p:txBody>
          <a:bodyPr lIns="0" tIns="0" rIns="0" bIns="0" rtlCol="0" anchor="t">
            <a:spAutoFit/>
          </a:bodyPr>
          <a:lstStyle/>
          <a:p>
            <a:pPr algn="ctr">
              <a:lnSpc>
                <a:spcPts val="3430"/>
              </a:lnSpc>
              <a:spcBef>
                <a:spcPct val="0"/>
              </a:spcBef>
            </a:pPr>
            <a:r>
              <a:rPr lang="en-US" sz="2450" spc="1428">
                <a:solidFill>
                  <a:srgbClr val="DEF0FF"/>
                </a:solidFill>
                <a:latin typeface="RQND Pro UltraWide"/>
                <a:ea typeface="RQND Pro UltraWide"/>
                <a:cs typeface="RQND Pro UltraWide"/>
                <a:sym typeface="RQND Pro UltraWide"/>
              </a:rPr>
              <a:t>klompok aselole</a:t>
            </a:r>
          </a:p>
        </p:txBody>
      </p:sp>
      <p:sp>
        <p:nvSpPr>
          <p:cNvPr id="19" name="TextBox 19"/>
          <p:cNvSpPr txBox="1"/>
          <p:nvPr/>
        </p:nvSpPr>
        <p:spPr>
          <a:xfrm>
            <a:off x="15742113" y="657054"/>
            <a:ext cx="813226" cy="269306"/>
          </a:xfrm>
          <a:prstGeom prst="rect">
            <a:avLst/>
          </a:prstGeom>
        </p:spPr>
        <p:txBody>
          <a:bodyPr lIns="0" tIns="0" rIns="0" bIns="0" rtlCol="0" anchor="t">
            <a:spAutoFit/>
          </a:bodyPr>
          <a:lstStyle/>
          <a:p>
            <a:pPr algn="ctr">
              <a:lnSpc>
                <a:spcPts val="1960"/>
              </a:lnSpc>
              <a:spcBef>
                <a:spcPct val="0"/>
              </a:spcBef>
            </a:pPr>
            <a:r>
              <a:rPr lang="en-US" sz="1400" spc="-56">
                <a:solidFill>
                  <a:srgbClr val="DEF0FF"/>
                </a:solidFill>
                <a:latin typeface="Telegraf"/>
                <a:ea typeface="Telegraf"/>
                <a:cs typeface="Telegraf"/>
                <a:sym typeface="Telegraf"/>
              </a:rPr>
              <a:t>Contact</a:t>
            </a:r>
          </a:p>
        </p:txBody>
      </p:sp>
      <p:sp>
        <p:nvSpPr>
          <p:cNvPr id="20" name="TextBox 20"/>
          <p:cNvSpPr txBox="1"/>
          <p:nvPr/>
        </p:nvSpPr>
        <p:spPr>
          <a:xfrm>
            <a:off x="6878436" y="657054"/>
            <a:ext cx="751945" cy="269240"/>
          </a:xfrm>
          <a:prstGeom prst="rect">
            <a:avLst/>
          </a:prstGeom>
        </p:spPr>
        <p:txBody>
          <a:bodyPr lIns="0" tIns="0" rIns="0" bIns="0" rtlCol="0" anchor="t">
            <a:spAutoFit/>
          </a:bodyPr>
          <a:lstStyle/>
          <a:p>
            <a:pPr algn="ctr">
              <a:lnSpc>
                <a:spcPts val="1960"/>
              </a:lnSpc>
              <a:spcBef>
                <a:spcPct val="0"/>
              </a:spcBef>
            </a:pPr>
            <a:r>
              <a:rPr lang="en-US" sz="1400" b="1" spc="-56">
                <a:solidFill>
                  <a:srgbClr val="DEF0FF"/>
                </a:solidFill>
                <a:latin typeface="Telegraf Bold"/>
                <a:ea typeface="Telegraf Bold"/>
                <a:cs typeface="Telegraf Bold"/>
                <a:sym typeface="Telegraf Bold"/>
              </a:rPr>
              <a:t>Home</a:t>
            </a:r>
          </a:p>
        </p:txBody>
      </p:sp>
      <p:sp>
        <p:nvSpPr>
          <p:cNvPr id="21" name="TextBox 21"/>
          <p:cNvSpPr txBox="1"/>
          <p:nvPr/>
        </p:nvSpPr>
        <p:spPr>
          <a:xfrm>
            <a:off x="7967106" y="657054"/>
            <a:ext cx="928073"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Services</a:t>
            </a:r>
          </a:p>
        </p:txBody>
      </p:sp>
      <p:sp>
        <p:nvSpPr>
          <p:cNvPr id="22" name="TextBox 22"/>
          <p:cNvSpPr txBox="1"/>
          <p:nvPr/>
        </p:nvSpPr>
        <p:spPr>
          <a:xfrm>
            <a:off x="10486033" y="657054"/>
            <a:ext cx="923532"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About Us</a:t>
            </a:r>
          </a:p>
        </p:txBody>
      </p:sp>
      <p:sp>
        <p:nvSpPr>
          <p:cNvPr id="23" name="TextBox 23"/>
          <p:cNvSpPr txBox="1"/>
          <p:nvPr/>
        </p:nvSpPr>
        <p:spPr>
          <a:xfrm>
            <a:off x="9231904" y="657054"/>
            <a:ext cx="917404"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Features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sp>
        <p:nvSpPr>
          <p:cNvPr id="3" name="Freeform 3"/>
          <p:cNvSpPr/>
          <p:nvPr/>
        </p:nvSpPr>
        <p:spPr>
          <a:xfrm>
            <a:off x="1028700" y="4675560"/>
            <a:ext cx="835127" cy="835127"/>
          </a:xfrm>
          <a:custGeom>
            <a:avLst/>
            <a:gdLst/>
            <a:ahLst/>
            <a:cxnLst/>
            <a:rect l="l" t="t" r="r" b="b"/>
            <a:pathLst>
              <a:path w="835127" h="835127">
                <a:moveTo>
                  <a:pt x="0" y="0"/>
                </a:moveTo>
                <a:lnTo>
                  <a:pt x="835127" y="0"/>
                </a:lnTo>
                <a:lnTo>
                  <a:pt x="835127" y="835127"/>
                </a:lnTo>
                <a:lnTo>
                  <a:pt x="0" y="83512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2380955" y="4601015"/>
            <a:ext cx="668627" cy="626078"/>
          </a:xfrm>
          <a:custGeom>
            <a:avLst/>
            <a:gdLst/>
            <a:ahLst/>
            <a:cxnLst/>
            <a:rect l="l" t="t" r="r" b="b"/>
            <a:pathLst>
              <a:path w="668627" h="626078">
                <a:moveTo>
                  <a:pt x="0" y="0"/>
                </a:moveTo>
                <a:lnTo>
                  <a:pt x="668626" y="0"/>
                </a:lnTo>
                <a:lnTo>
                  <a:pt x="668626" y="626077"/>
                </a:lnTo>
                <a:lnTo>
                  <a:pt x="0" y="62607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5" name="Group 5"/>
          <p:cNvGrpSpPr/>
          <p:nvPr/>
        </p:nvGrpSpPr>
        <p:grpSpPr>
          <a:xfrm>
            <a:off x="1028700" y="611864"/>
            <a:ext cx="2704510" cy="416836"/>
            <a:chOff x="0" y="0"/>
            <a:chExt cx="712299" cy="109784"/>
          </a:xfrm>
        </p:grpSpPr>
        <p:sp>
          <p:nvSpPr>
            <p:cNvPr id="6" name="Freeform 6"/>
            <p:cNvSpPr/>
            <p:nvPr/>
          </p:nvSpPr>
          <p:spPr>
            <a:xfrm>
              <a:off x="0" y="0"/>
              <a:ext cx="712299" cy="109784"/>
            </a:xfrm>
            <a:custGeom>
              <a:avLst/>
              <a:gdLst/>
              <a:ahLst/>
              <a:cxnLst/>
              <a:rect l="l" t="t" r="r" b="b"/>
              <a:pathLst>
                <a:path w="712299" h="109784">
                  <a:moveTo>
                    <a:pt x="54892" y="0"/>
                  </a:moveTo>
                  <a:lnTo>
                    <a:pt x="657407" y="0"/>
                  </a:lnTo>
                  <a:cubicBezTo>
                    <a:pt x="671965" y="0"/>
                    <a:pt x="685927" y="5783"/>
                    <a:pt x="696221" y="16077"/>
                  </a:cubicBezTo>
                  <a:cubicBezTo>
                    <a:pt x="706516" y="26372"/>
                    <a:pt x="712299" y="40334"/>
                    <a:pt x="712299" y="54892"/>
                  </a:cubicBezTo>
                  <a:lnTo>
                    <a:pt x="712299" y="54892"/>
                  </a:lnTo>
                  <a:cubicBezTo>
                    <a:pt x="712299" y="85208"/>
                    <a:pt x="687723" y="109784"/>
                    <a:pt x="657407"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ln w="9525" cap="rnd">
              <a:solidFill>
                <a:srgbClr val="FFFFFF">
                  <a:alpha val="49804"/>
                </a:srgbClr>
              </a:solidFill>
              <a:prstDash val="solid"/>
              <a:round/>
            </a:ln>
          </p:spPr>
        </p:sp>
        <p:sp>
          <p:nvSpPr>
            <p:cNvPr id="7" name="TextBox 7"/>
            <p:cNvSpPr txBox="1"/>
            <p:nvPr/>
          </p:nvSpPr>
          <p:spPr>
            <a:xfrm>
              <a:off x="0" y="-38100"/>
              <a:ext cx="712299" cy="147884"/>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5558984" y="611864"/>
            <a:ext cx="1179483" cy="416836"/>
            <a:chOff x="0" y="0"/>
            <a:chExt cx="310646" cy="109784"/>
          </a:xfrm>
        </p:grpSpPr>
        <p:sp>
          <p:nvSpPr>
            <p:cNvPr id="9" name="Freeform 9"/>
            <p:cNvSpPr/>
            <p:nvPr/>
          </p:nvSpPr>
          <p:spPr>
            <a:xfrm>
              <a:off x="0" y="0"/>
              <a:ext cx="310646" cy="109784"/>
            </a:xfrm>
            <a:custGeom>
              <a:avLst/>
              <a:gdLst/>
              <a:ahLst/>
              <a:cxnLst/>
              <a:rect l="l" t="t" r="r" b="b"/>
              <a:pathLst>
                <a:path w="310646" h="109784">
                  <a:moveTo>
                    <a:pt x="54892" y="0"/>
                  </a:moveTo>
                  <a:lnTo>
                    <a:pt x="255754" y="0"/>
                  </a:lnTo>
                  <a:cubicBezTo>
                    <a:pt x="286070" y="0"/>
                    <a:pt x="310646" y="24576"/>
                    <a:pt x="310646" y="54892"/>
                  </a:cubicBezTo>
                  <a:lnTo>
                    <a:pt x="310646" y="54892"/>
                  </a:lnTo>
                  <a:cubicBezTo>
                    <a:pt x="310646" y="69450"/>
                    <a:pt x="304862" y="83412"/>
                    <a:pt x="294568" y="93706"/>
                  </a:cubicBezTo>
                  <a:cubicBezTo>
                    <a:pt x="284274" y="104001"/>
                    <a:pt x="270312" y="109784"/>
                    <a:pt x="255754"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ln w="9525" cap="rnd">
              <a:solidFill>
                <a:srgbClr val="FFFFFF">
                  <a:alpha val="49804"/>
                </a:srgbClr>
              </a:solidFill>
              <a:prstDash val="solid"/>
              <a:round/>
            </a:ln>
          </p:spPr>
        </p:sp>
        <p:sp>
          <p:nvSpPr>
            <p:cNvPr id="10" name="TextBox 10"/>
            <p:cNvSpPr txBox="1"/>
            <p:nvPr/>
          </p:nvSpPr>
          <p:spPr>
            <a:xfrm>
              <a:off x="0" y="-38100"/>
              <a:ext cx="310646" cy="14788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1" name="Group 11"/>
          <p:cNvGrpSpPr/>
          <p:nvPr/>
        </p:nvGrpSpPr>
        <p:grpSpPr>
          <a:xfrm>
            <a:off x="16842464" y="611864"/>
            <a:ext cx="416836" cy="416836"/>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ln w="9525" cap="rnd">
              <a:solidFill>
                <a:srgbClr val="FFFFFF">
                  <a:alpha val="49804"/>
                </a:srgbClr>
              </a:solidFill>
              <a:prstDash val="solid"/>
              <a:round/>
            </a:ln>
          </p:spPr>
        </p:sp>
        <p:sp>
          <p:nvSpPr>
            <p:cNvPr id="13" name="TextBox 13"/>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4" name="Freeform 14"/>
          <p:cNvSpPr/>
          <p:nvPr/>
        </p:nvSpPr>
        <p:spPr>
          <a:xfrm>
            <a:off x="16954260" y="755908"/>
            <a:ext cx="193244" cy="128749"/>
          </a:xfrm>
          <a:custGeom>
            <a:avLst/>
            <a:gdLst/>
            <a:ahLst/>
            <a:cxnLst/>
            <a:rect l="l" t="t" r="r" b="b"/>
            <a:pathLst>
              <a:path w="193244" h="128749">
                <a:moveTo>
                  <a:pt x="0" y="0"/>
                </a:moveTo>
                <a:lnTo>
                  <a:pt x="193244" y="0"/>
                </a:lnTo>
                <a:lnTo>
                  <a:pt x="193244" y="128749"/>
                </a:lnTo>
                <a:lnTo>
                  <a:pt x="0" y="12874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5" name="Freeform 15"/>
          <p:cNvSpPr/>
          <p:nvPr/>
        </p:nvSpPr>
        <p:spPr>
          <a:xfrm>
            <a:off x="3386715" y="735023"/>
            <a:ext cx="170453" cy="170453"/>
          </a:xfrm>
          <a:custGeom>
            <a:avLst/>
            <a:gdLst/>
            <a:ahLst/>
            <a:cxnLst/>
            <a:rect l="l" t="t" r="r" b="b"/>
            <a:pathLst>
              <a:path w="170453" h="170453">
                <a:moveTo>
                  <a:pt x="0" y="0"/>
                </a:moveTo>
                <a:lnTo>
                  <a:pt x="170453" y="0"/>
                </a:lnTo>
                <a:lnTo>
                  <a:pt x="170453" y="170452"/>
                </a:lnTo>
                <a:lnTo>
                  <a:pt x="0" y="17045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6" name="Freeform 16"/>
          <p:cNvSpPr/>
          <p:nvPr/>
        </p:nvSpPr>
        <p:spPr>
          <a:xfrm>
            <a:off x="2380955" y="5644656"/>
            <a:ext cx="668627" cy="626078"/>
          </a:xfrm>
          <a:custGeom>
            <a:avLst/>
            <a:gdLst/>
            <a:ahLst/>
            <a:cxnLst/>
            <a:rect l="l" t="t" r="r" b="b"/>
            <a:pathLst>
              <a:path w="668627" h="626078">
                <a:moveTo>
                  <a:pt x="0" y="0"/>
                </a:moveTo>
                <a:lnTo>
                  <a:pt x="668626" y="0"/>
                </a:lnTo>
                <a:lnTo>
                  <a:pt x="668626" y="626078"/>
                </a:lnTo>
                <a:lnTo>
                  <a:pt x="0" y="62607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7" name="Freeform 17"/>
          <p:cNvSpPr/>
          <p:nvPr/>
        </p:nvSpPr>
        <p:spPr>
          <a:xfrm>
            <a:off x="2380955" y="6689834"/>
            <a:ext cx="668627" cy="626078"/>
          </a:xfrm>
          <a:custGeom>
            <a:avLst/>
            <a:gdLst/>
            <a:ahLst/>
            <a:cxnLst/>
            <a:rect l="l" t="t" r="r" b="b"/>
            <a:pathLst>
              <a:path w="668627" h="626078">
                <a:moveTo>
                  <a:pt x="0" y="0"/>
                </a:moveTo>
                <a:lnTo>
                  <a:pt x="668626" y="0"/>
                </a:lnTo>
                <a:lnTo>
                  <a:pt x="668626" y="626077"/>
                </a:lnTo>
                <a:lnTo>
                  <a:pt x="0" y="62607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8" name="Freeform 18"/>
          <p:cNvSpPr/>
          <p:nvPr/>
        </p:nvSpPr>
        <p:spPr>
          <a:xfrm>
            <a:off x="2380955" y="7735011"/>
            <a:ext cx="668627" cy="626078"/>
          </a:xfrm>
          <a:custGeom>
            <a:avLst/>
            <a:gdLst/>
            <a:ahLst/>
            <a:cxnLst/>
            <a:rect l="l" t="t" r="r" b="b"/>
            <a:pathLst>
              <a:path w="668627" h="626078">
                <a:moveTo>
                  <a:pt x="0" y="0"/>
                </a:moveTo>
                <a:lnTo>
                  <a:pt x="668626" y="0"/>
                </a:lnTo>
                <a:lnTo>
                  <a:pt x="668626" y="626078"/>
                </a:lnTo>
                <a:lnTo>
                  <a:pt x="0" y="62607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9" name="TextBox 19"/>
          <p:cNvSpPr txBox="1"/>
          <p:nvPr/>
        </p:nvSpPr>
        <p:spPr>
          <a:xfrm>
            <a:off x="1028700" y="2010434"/>
            <a:ext cx="5896790" cy="1409481"/>
          </a:xfrm>
          <a:prstGeom prst="rect">
            <a:avLst/>
          </a:prstGeom>
        </p:spPr>
        <p:txBody>
          <a:bodyPr lIns="0" tIns="0" rIns="0" bIns="0" rtlCol="0" anchor="t">
            <a:spAutoFit/>
          </a:bodyPr>
          <a:lstStyle/>
          <a:p>
            <a:pPr algn="l">
              <a:lnSpc>
                <a:spcPts val="5295"/>
              </a:lnSpc>
            </a:pPr>
            <a:r>
              <a:rPr lang="en-US" sz="6303">
                <a:solidFill>
                  <a:srgbClr val="DEF0FF"/>
                </a:solidFill>
                <a:latin typeface="RQND Pro UltraWide"/>
                <a:ea typeface="RQND Pro UltraWide"/>
                <a:cs typeface="RQND Pro UltraWide"/>
                <a:sym typeface="RQND Pro UltraWide"/>
              </a:rPr>
              <a:t>nama kelompok </a:t>
            </a:r>
          </a:p>
        </p:txBody>
      </p:sp>
      <p:sp>
        <p:nvSpPr>
          <p:cNvPr id="20" name="TextBox 20"/>
          <p:cNvSpPr txBox="1"/>
          <p:nvPr/>
        </p:nvSpPr>
        <p:spPr>
          <a:xfrm>
            <a:off x="3557168" y="4658783"/>
            <a:ext cx="3697240" cy="434341"/>
          </a:xfrm>
          <a:prstGeom prst="rect">
            <a:avLst/>
          </a:prstGeom>
        </p:spPr>
        <p:txBody>
          <a:bodyPr lIns="0" tIns="0" rIns="0" bIns="0" rtlCol="0" anchor="t">
            <a:spAutoFit/>
          </a:bodyPr>
          <a:lstStyle/>
          <a:p>
            <a:pPr algn="l">
              <a:lnSpc>
                <a:spcPts val="3359"/>
              </a:lnSpc>
              <a:spcBef>
                <a:spcPct val="0"/>
              </a:spcBef>
            </a:pPr>
            <a:r>
              <a:rPr lang="en-US" sz="2399" b="1" spc="-95">
                <a:solidFill>
                  <a:srgbClr val="DEF0FF"/>
                </a:solidFill>
                <a:latin typeface="Telegraf Bold"/>
                <a:ea typeface="Telegraf Bold"/>
                <a:cs typeface="Telegraf Bold"/>
                <a:sym typeface="Telegraf Bold"/>
              </a:rPr>
              <a:t>Aditya (230441100138)</a:t>
            </a:r>
          </a:p>
        </p:txBody>
      </p:sp>
      <p:sp>
        <p:nvSpPr>
          <p:cNvPr id="21" name="TextBox 21"/>
          <p:cNvSpPr txBox="1"/>
          <p:nvPr/>
        </p:nvSpPr>
        <p:spPr>
          <a:xfrm>
            <a:off x="15742113" y="657054"/>
            <a:ext cx="813226" cy="269306"/>
          </a:xfrm>
          <a:prstGeom prst="rect">
            <a:avLst/>
          </a:prstGeom>
        </p:spPr>
        <p:txBody>
          <a:bodyPr lIns="0" tIns="0" rIns="0" bIns="0" rtlCol="0" anchor="t">
            <a:spAutoFit/>
          </a:bodyPr>
          <a:lstStyle/>
          <a:p>
            <a:pPr algn="ctr">
              <a:lnSpc>
                <a:spcPts val="1960"/>
              </a:lnSpc>
              <a:spcBef>
                <a:spcPct val="0"/>
              </a:spcBef>
            </a:pPr>
            <a:r>
              <a:rPr lang="en-US" sz="1400" spc="-56">
                <a:solidFill>
                  <a:srgbClr val="DEF0FF"/>
                </a:solidFill>
                <a:latin typeface="Telegraf"/>
                <a:ea typeface="Telegraf"/>
                <a:cs typeface="Telegraf"/>
                <a:sym typeface="Telegraf"/>
              </a:rPr>
              <a:t>Contact</a:t>
            </a:r>
          </a:p>
        </p:txBody>
      </p:sp>
      <p:sp>
        <p:nvSpPr>
          <p:cNvPr id="22" name="TextBox 22"/>
          <p:cNvSpPr txBox="1"/>
          <p:nvPr/>
        </p:nvSpPr>
        <p:spPr>
          <a:xfrm>
            <a:off x="6878436" y="657054"/>
            <a:ext cx="751945" cy="269240"/>
          </a:xfrm>
          <a:prstGeom prst="rect">
            <a:avLst/>
          </a:prstGeom>
        </p:spPr>
        <p:txBody>
          <a:bodyPr lIns="0" tIns="0" rIns="0" bIns="0" rtlCol="0" anchor="t">
            <a:spAutoFit/>
          </a:bodyPr>
          <a:lstStyle/>
          <a:p>
            <a:pPr algn="ctr">
              <a:lnSpc>
                <a:spcPts val="1960"/>
              </a:lnSpc>
              <a:spcBef>
                <a:spcPct val="0"/>
              </a:spcBef>
            </a:pPr>
            <a:r>
              <a:rPr lang="en-US" sz="1400" b="1" spc="-56">
                <a:solidFill>
                  <a:srgbClr val="DEF0FF"/>
                </a:solidFill>
                <a:latin typeface="Telegraf Bold"/>
                <a:ea typeface="Telegraf Bold"/>
                <a:cs typeface="Telegraf Bold"/>
                <a:sym typeface="Telegraf Bold"/>
              </a:rPr>
              <a:t>Home</a:t>
            </a:r>
          </a:p>
        </p:txBody>
      </p:sp>
      <p:sp>
        <p:nvSpPr>
          <p:cNvPr id="23" name="TextBox 23"/>
          <p:cNvSpPr txBox="1"/>
          <p:nvPr/>
        </p:nvSpPr>
        <p:spPr>
          <a:xfrm>
            <a:off x="7967106" y="657054"/>
            <a:ext cx="928073"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Services</a:t>
            </a:r>
          </a:p>
        </p:txBody>
      </p:sp>
      <p:sp>
        <p:nvSpPr>
          <p:cNvPr id="24" name="TextBox 24"/>
          <p:cNvSpPr txBox="1"/>
          <p:nvPr/>
        </p:nvSpPr>
        <p:spPr>
          <a:xfrm>
            <a:off x="10486033" y="657054"/>
            <a:ext cx="923532"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About Us</a:t>
            </a:r>
          </a:p>
        </p:txBody>
      </p:sp>
      <p:sp>
        <p:nvSpPr>
          <p:cNvPr id="25" name="TextBox 25"/>
          <p:cNvSpPr txBox="1"/>
          <p:nvPr/>
        </p:nvSpPr>
        <p:spPr>
          <a:xfrm>
            <a:off x="9231904" y="657054"/>
            <a:ext cx="917404"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Features</a:t>
            </a:r>
          </a:p>
        </p:txBody>
      </p:sp>
      <p:sp>
        <p:nvSpPr>
          <p:cNvPr id="26" name="TextBox 26"/>
          <p:cNvSpPr txBox="1"/>
          <p:nvPr/>
        </p:nvSpPr>
        <p:spPr>
          <a:xfrm>
            <a:off x="3557168" y="5702425"/>
            <a:ext cx="4249230" cy="434341"/>
          </a:xfrm>
          <a:prstGeom prst="rect">
            <a:avLst/>
          </a:prstGeom>
        </p:spPr>
        <p:txBody>
          <a:bodyPr lIns="0" tIns="0" rIns="0" bIns="0" rtlCol="0" anchor="t">
            <a:spAutoFit/>
          </a:bodyPr>
          <a:lstStyle/>
          <a:p>
            <a:pPr algn="l">
              <a:lnSpc>
                <a:spcPts val="3359"/>
              </a:lnSpc>
              <a:spcBef>
                <a:spcPct val="0"/>
              </a:spcBef>
            </a:pPr>
            <a:r>
              <a:rPr lang="en-US" sz="2399" b="1" spc="-95">
                <a:solidFill>
                  <a:srgbClr val="DEF0FF"/>
                </a:solidFill>
                <a:latin typeface="Telegraf Bold"/>
                <a:ea typeface="Telegraf Bold"/>
                <a:cs typeface="Telegraf Bold"/>
                <a:sym typeface="Telegraf Bold"/>
              </a:rPr>
              <a:t>klil Mubarok (230441100154)</a:t>
            </a:r>
          </a:p>
        </p:txBody>
      </p:sp>
      <p:sp>
        <p:nvSpPr>
          <p:cNvPr id="27" name="TextBox 27"/>
          <p:cNvSpPr txBox="1"/>
          <p:nvPr/>
        </p:nvSpPr>
        <p:spPr>
          <a:xfrm>
            <a:off x="3557168" y="6746365"/>
            <a:ext cx="4249230" cy="434341"/>
          </a:xfrm>
          <a:prstGeom prst="rect">
            <a:avLst/>
          </a:prstGeom>
        </p:spPr>
        <p:txBody>
          <a:bodyPr lIns="0" tIns="0" rIns="0" bIns="0" rtlCol="0" anchor="t">
            <a:spAutoFit/>
          </a:bodyPr>
          <a:lstStyle/>
          <a:p>
            <a:pPr algn="l">
              <a:lnSpc>
                <a:spcPts val="3359"/>
              </a:lnSpc>
              <a:spcBef>
                <a:spcPct val="0"/>
              </a:spcBef>
            </a:pPr>
            <a:r>
              <a:rPr lang="en-US" sz="2399" b="1" spc="-95">
                <a:solidFill>
                  <a:srgbClr val="DEF0FF"/>
                </a:solidFill>
                <a:latin typeface="Telegraf Bold"/>
                <a:ea typeface="Telegraf Bold"/>
                <a:cs typeface="Telegraf Bold"/>
                <a:sym typeface="Telegraf Bold"/>
              </a:rPr>
              <a:t>Zainul Arifin (230441100159)</a:t>
            </a:r>
          </a:p>
        </p:txBody>
      </p:sp>
      <p:sp>
        <p:nvSpPr>
          <p:cNvPr id="28" name="TextBox 28"/>
          <p:cNvSpPr txBox="1"/>
          <p:nvPr/>
        </p:nvSpPr>
        <p:spPr>
          <a:xfrm>
            <a:off x="3557168" y="7792780"/>
            <a:ext cx="4249230" cy="434341"/>
          </a:xfrm>
          <a:prstGeom prst="rect">
            <a:avLst/>
          </a:prstGeom>
        </p:spPr>
        <p:txBody>
          <a:bodyPr lIns="0" tIns="0" rIns="0" bIns="0" rtlCol="0" anchor="t">
            <a:spAutoFit/>
          </a:bodyPr>
          <a:lstStyle/>
          <a:p>
            <a:pPr algn="l">
              <a:lnSpc>
                <a:spcPts val="3359"/>
              </a:lnSpc>
              <a:spcBef>
                <a:spcPct val="0"/>
              </a:spcBef>
            </a:pPr>
            <a:r>
              <a:rPr lang="en-US" sz="2399" b="1" spc="-95">
                <a:solidFill>
                  <a:srgbClr val="DEF0FF"/>
                </a:solidFill>
                <a:latin typeface="Telegraf Bold"/>
                <a:ea typeface="Telegraf Bold"/>
                <a:cs typeface="Telegraf Bold"/>
                <a:sym typeface="Telegraf Bold"/>
              </a:rPr>
              <a:t>Abd. Based (230441100055)</a:t>
            </a:r>
          </a:p>
        </p:txBody>
      </p:sp>
      <p:sp>
        <p:nvSpPr>
          <p:cNvPr id="29" name="TextBox 29"/>
          <p:cNvSpPr txBox="1"/>
          <p:nvPr/>
        </p:nvSpPr>
        <p:spPr>
          <a:xfrm>
            <a:off x="8699494" y="3657192"/>
            <a:ext cx="8448011" cy="5751530"/>
          </a:xfrm>
          <a:prstGeom prst="rect">
            <a:avLst/>
          </a:prstGeom>
        </p:spPr>
        <p:txBody>
          <a:bodyPr lIns="0" tIns="0" rIns="0" bIns="0" rtlCol="0" anchor="t">
            <a:spAutoFit/>
          </a:bodyPr>
          <a:lstStyle/>
          <a:p>
            <a:pPr algn="just">
              <a:lnSpc>
                <a:spcPts val="3236"/>
              </a:lnSpc>
              <a:spcBef>
                <a:spcPct val="0"/>
              </a:spcBef>
            </a:pPr>
            <a:r>
              <a:rPr lang="en-US" sz="2311" b="1" spc="-92">
                <a:solidFill>
                  <a:srgbClr val="DEF0FF"/>
                </a:solidFill>
                <a:latin typeface="Telegraf Bold"/>
                <a:ea typeface="Telegraf Bold"/>
                <a:cs typeface="Telegraf Bold"/>
                <a:sym typeface="Telegraf Bold"/>
              </a:rPr>
              <a:t>Cabai adalah komoditas hortikultura bernilai ekonomi tinggi yang sering terganggu penyakit daun seperti antraknosa, bercak daun Cercospora, dan leaf curl. Diagnosis visual di lapangan bergantung pada pengalaman dan rawan keliru karena gejala antar penyakit mirip, sehingga dapat menurunkan hasil panen. Deep learning (CNN) memungkinkan klasifikasi otomatis dari citra daun, dan transfer learning dengan model ringan seperti MobileNetV3-Small lebih efisien daripada melatih CNN dari awal. Namun, manfaat augmentasi dan fine-tuning belum tentu sama pada setiap dataset. Penelitian ini membandingkan empat skenario pelatihan (Custom CNN, MobileNetV3-Small baseline, dengan augmentasi, dan dengan fine-tuning) pada dataset penyakit daun cabai dari Bangladesh.</a:t>
            </a:r>
          </a:p>
        </p:txBody>
      </p:sp>
      <p:sp>
        <p:nvSpPr>
          <p:cNvPr id="30" name="TextBox 30"/>
          <p:cNvSpPr txBox="1"/>
          <p:nvPr/>
        </p:nvSpPr>
        <p:spPr>
          <a:xfrm>
            <a:off x="8699494" y="2010434"/>
            <a:ext cx="5896790" cy="1409481"/>
          </a:xfrm>
          <a:prstGeom prst="rect">
            <a:avLst/>
          </a:prstGeom>
        </p:spPr>
        <p:txBody>
          <a:bodyPr lIns="0" tIns="0" rIns="0" bIns="0" rtlCol="0" anchor="t">
            <a:spAutoFit/>
          </a:bodyPr>
          <a:lstStyle/>
          <a:p>
            <a:pPr algn="l">
              <a:lnSpc>
                <a:spcPts val="5295"/>
              </a:lnSpc>
            </a:pPr>
            <a:r>
              <a:rPr lang="en-US" sz="6303">
                <a:solidFill>
                  <a:srgbClr val="DEF0FF"/>
                </a:solidFill>
                <a:latin typeface="RQND Pro UltraWide"/>
                <a:ea typeface="RQND Pro UltraWide"/>
                <a:cs typeface="RQND Pro UltraWide"/>
                <a:sym typeface="RQND Pro UltraWide"/>
              </a:rPr>
              <a:t>latar belakang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sp>
        <p:nvSpPr>
          <p:cNvPr id="3" name="Freeform 3"/>
          <p:cNvSpPr/>
          <p:nvPr/>
        </p:nvSpPr>
        <p:spPr>
          <a:xfrm>
            <a:off x="3734936" y="5633012"/>
            <a:ext cx="437264" cy="437264"/>
          </a:xfrm>
          <a:custGeom>
            <a:avLst/>
            <a:gdLst/>
            <a:ahLst/>
            <a:cxnLst/>
            <a:rect l="l" t="t" r="r" b="b"/>
            <a:pathLst>
              <a:path w="437264" h="437264">
                <a:moveTo>
                  <a:pt x="0" y="0"/>
                </a:moveTo>
                <a:lnTo>
                  <a:pt x="437264" y="0"/>
                </a:lnTo>
                <a:lnTo>
                  <a:pt x="437264" y="437265"/>
                </a:lnTo>
                <a:lnTo>
                  <a:pt x="0" y="43726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8436267" y="4269956"/>
            <a:ext cx="8828158" cy="4679108"/>
            <a:chOff x="0" y="0"/>
            <a:chExt cx="3152380" cy="1670827"/>
          </a:xfrm>
        </p:grpSpPr>
        <p:sp>
          <p:nvSpPr>
            <p:cNvPr id="5" name="Freeform 5"/>
            <p:cNvSpPr/>
            <p:nvPr/>
          </p:nvSpPr>
          <p:spPr>
            <a:xfrm>
              <a:off x="0" y="0"/>
              <a:ext cx="3152380" cy="1670827"/>
            </a:xfrm>
            <a:custGeom>
              <a:avLst/>
              <a:gdLst/>
              <a:ahLst/>
              <a:cxnLst/>
              <a:rect l="l" t="t" r="r" b="b"/>
              <a:pathLst>
                <a:path w="3152380" h="1670827">
                  <a:moveTo>
                    <a:pt x="2992360" y="0"/>
                  </a:moveTo>
                  <a:lnTo>
                    <a:pt x="160020" y="0"/>
                  </a:lnTo>
                  <a:lnTo>
                    <a:pt x="0" y="160020"/>
                  </a:lnTo>
                  <a:lnTo>
                    <a:pt x="0" y="1510807"/>
                  </a:lnTo>
                  <a:lnTo>
                    <a:pt x="160020" y="1670827"/>
                  </a:lnTo>
                  <a:lnTo>
                    <a:pt x="2992360" y="1670827"/>
                  </a:lnTo>
                  <a:lnTo>
                    <a:pt x="3152380" y="1510807"/>
                  </a:lnTo>
                  <a:lnTo>
                    <a:pt x="3152380" y="160020"/>
                  </a:lnTo>
                  <a:lnTo>
                    <a:pt x="2992360" y="0"/>
                  </a:lnTo>
                  <a:close/>
                </a:path>
              </a:pathLst>
            </a:custGeom>
            <a:ln w="9525" cap="sq">
              <a:solidFill>
                <a:srgbClr val="DEF0FF">
                  <a:alpha val="49804"/>
                </a:srgbClr>
              </a:solidFill>
              <a:prstDash val="solid"/>
              <a:miter/>
            </a:ln>
          </p:spPr>
        </p:sp>
        <p:sp>
          <p:nvSpPr>
            <p:cNvPr id="6" name="TextBox 6"/>
            <p:cNvSpPr txBox="1"/>
            <p:nvPr/>
          </p:nvSpPr>
          <p:spPr>
            <a:xfrm>
              <a:off x="63500" y="6350"/>
              <a:ext cx="3025380" cy="1600977"/>
            </a:xfrm>
            <a:prstGeom prst="rect">
              <a:avLst/>
            </a:prstGeom>
          </p:spPr>
          <p:txBody>
            <a:bodyPr lIns="50800" tIns="50800" rIns="50800" bIns="50800" rtlCol="0" anchor="ctr"/>
            <a:lstStyle/>
            <a:p>
              <a:pPr algn="ctr">
                <a:lnSpc>
                  <a:spcPts val="1960"/>
                </a:lnSpc>
              </a:pPr>
              <a:endParaRPr/>
            </a:p>
          </p:txBody>
        </p:sp>
      </p:grpSp>
      <p:grpSp>
        <p:nvGrpSpPr>
          <p:cNvPr id="7" name="Group 7"/>
          <p:cNvGrpSpPr/>
          <p:nvPr/>
        </p:nvGrpSpPr>
        <p:grpSpPr>
          <a:xfrm>
            <a:off x="1028700" y="611864"/>
            <a:ext cx="2704510" cy="416836"/>
            <a:chOff x="0" y="0"/>
            <a:chExt cx="712299" cy="109784"/>
          </a:xfrm>
        </p:grpSpPr>
        <p:sp>
          <p:nvSpPr>
            <p:cNvPr id="8" name="Freeform 8"/>
            <p:cNvSpPr/>
            <p:nvPr/>
          </p:nvSpPr>
          <p:spPr>
            <a:xfrm>
              <a:off x="0" y="0"/>
              <a:ext cx="712299" cy="109784"/>
            </a:xfrm>
            <a:custGeom>
              <a:avLst/>
              <a:gdLst/>
              <a:ahLst/>
              <a:cxnLst/>
              <a:rect l="l" t="t" r="r" b="b"/>
              <a:pathLst>
                <a:path w="712299" h="109784">
                  <a:moveTo>
                    <a:pt x="54892" y="0"/>
                  </a:moveTo>
                  <a:lnTo>
                    <a:pt x="657407" y="0"/>
                  </a:lnTo>
                  <a:cubicBezTo>
                    <a:pt x="671965" y="0"/>
                    <a:pt x="685927" y="5783"/>
                    <a:pt x="696221" y="16077"/>
                  </a:cubicBezTo>
                  <a:cubicBezTo>
                    <a:pt x="706516" y="26372"/>
                    <a:pt x="712299" y="40334"/>
                    <a:pt x="712299" y="54892"/>
                  </a:cubicBezTo>
                  <a:lnTo>
                    <a:pt x="712299" y="54892"/>
                  </a:lnTo>
                  <a:cubicBezTo>
                    <a:pt x="712299" y="85208"/>
                    <a:pt x="687723" y="109784"/>
                    <a:pt x="657407"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ln w="9525" cap="rnd">
              <a:solidFill>
                <a:srgbClr val="FFFFFF">
                  <a:alpha val="49804"/>
                </a:srgbClr>
              </a:solidFill>
              <a:prstDash val="solid"/>
              <a:round/>
            </a:ln>
          </p:spPr>
        </p:sp>
        <p:sp>
          <p:nvSpPr>
            <p:cNvPr id="9" name="TextBox 9"/>
            <p:cNvSpPr txBox="1"/>
            <p:nvPr/>
          </p:nvSpPr>
          <p:spPr>
            <a:xfrm>
              <a:off x="0" y="-38100"/>
              <a:ext cx="712299" cy="147884"/>
            </a:xfrm>
            <a:prstGeom prst="rect">
              <a:avLst/>
            </a:prstGeom>
          </p:spPr>
          <p:txBody>
            <a:bodyPr lIns="50800" tIns="50800" rIns="50800" bIns="50800" rtlCol="0" anchor="ctr"/>
            <a:lstStyle/>
            <a:p>
              <a:pPr algn="ctr">
                <a:lnSpc>
                  <a:spcPts val="2659"/>
                </a:lnSpc>
                <a:spcBef>
                  <a:spcPct val="0"/>
                </a:spcBef>
              </a:pPr>
              <a:endParaRPr/>
            </a:p>
          </p:txBody>
        </p:sp>
      </p:grpSp>
      <p:grpSp>
        <p:nvGrpSpPr>
          <p:cNvPr id="10" name="Group 10"/>
          <p:cNvGrpSpPr/>
          <p:nvPr/>
        </p:nvGrpSpPr>
        <p:grpSpPr>
          <a:xfrm>
            <a:off x="15558984" y="611864"/>
            <a:ext cx="1179483" cy="416836"/>
            <a:chOff x="0" y="0"/>
            <a:chExt cx="310646" cy="109784"/>
          </a:xfrm>
        </p:grpSpPr>
        <p:sp>
          <p:nvSpPr>
            <p:cNvPr id="11" name="Freeform 11"/>
            <p:cNvSpPr/>
            <p:nvPr/>
          </p:nvSpPr>
          <p:spPr>
            <a:xfrm>
              <a:off x="0" y="0"/>
              <a:ext cx="310646" cy="109784"/>
            </a:xfrm>
            <a:custGeom>
              <a:avLst/>
              <a:gdLst/>
              <a:ahLst/>
              <a:cxnLst/>
              <a:rect l="l" t="t" r="r" b="b"/>
              <a:pathLst>
                <a:path w="310646" h="109784">
                  <a:moveTo>
                    <a:pt x="54892" y="0"/>
                  </a:moveTo>
                  <a:lnTo>
                    <a:pt x="255754" y="0"/>
                  </a:lnTo>
                  <a:cubicBezTo>
                    <a:pt x="286070" y="0"/>
                    <a:pt x="310646" y="24576"/>
                    <a:pt x="310646" y="54892"/>
                  </a:cubicBezTo>
                  <a:lnTo>
                    <a:pt x="310646" y="54892"/>
                  </a:lnTo>
                  <a:cubicBezTo>
                    <a:pt x="310646" y="69450"/>
                    <a:pt x="304862" y="83412"/>
                    <a:pt x="294568" y="93706"/>
                  </a:cubicBezTo>
                  <a:cubicBezTo>
                    <a:pt x="284274" y="104001"/>
                    <a:pt x="270312" y="109784"/>
                    <a:pt x="255754"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ln w="9525" cap="rnd">
              <a:solidFill>
                <a:srgbClr val="FFFFFF">
                  <a:alpha val="49804"/>
                </a:srgbClr>
              </a:solidFill>
              <a:prstDash val="solid"/>
              <a:round/>
            </a:ln>
          </p:spPr>
        </p:sp>
        <p:sp>
          <p:nvSpPr>
            <p:cNvPr id="12" name="TextBox 12"/>
            <p:cNvSpPr txBox="1"/>
            <p:nvPr/>
          </p:nvSpPr>
          <p:spPr>
            <a:xfrm>
              <a:off x="0" y="-38100"/>
              <a:ext cx="310646" cy="14788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3" name="Group 13"/>
          <p:cNvGrpSpPr/>
          <p:nvPr/>
        </p:nvGrpSpPr>
        <p:grpSpPr>
          <a:xfrm>
            <a:off x="16842464" y="611864"/>
            <a:ext cx="416836" cy="416836"/>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ln w="9525" cap="rnd">
              <a:solidFill>
                <a:srgbClr val="FFFFFF">
                  <a:alpha val="49804"/>
                </a:srgbClr>
              </a:solidFill>
              <a:prstDash val="solid"/>
              <a:round/>
            </a:ln>
          </p:spPr>
        </p:sp>
        <p:sp>
          <p:nvSpPr>
            <p:cNvPr id="15" name="TextBox 15"/>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6" name="Freeform 16"/>
          <p:cNvSpPr/>
          <p:nvPr/>
        </p:nvSpPr>
        <p:spPr>
          <a:xfrm>
            <a:off x="16954260" y="755908"/>
            <a:ext cx="193244" cy="128749"/>
          </a:xfrm>
          <a:custGeom>
            <a:avLst/>
            <a:gdLst/>
            <a:ahLst/>
            <a:cxnLst/>
            <a:rect l="l" t="t" r="r" b="b"/>
            <a:pathLst>
              <a:path w="193244" h="128749">
                <a:moveTo>
                  <a:pt x="0" y="0"/>
                </a:moveTo>
                <a:lnTo>
                  <a:pt x="193244" y="0"/>
                </a:lnTo>
                <a:lnTo>
                  <a:pt x="193244" y="128749"/>
                </a:lnTo>
                <a:lnTo>
                  <a:pt x="0" y="12874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7" name="Freeform 17"/>
          <p:cNvSpPr/>
          <p:nvPr/>
        </p:nvSpPr>
        <p:spPr>
          <a:xfrm>
            <a:off x="3386715" y="735023"/>
            <a:ext cx="170453" cy="170453"/>
          </a:xfrm>
          <a:custGeom>
            <a:avLst/>
            <a:gdLst/>
            <a:ahLst/>
            <a:cxnLst/>
            <a:rect l="l" t="t" r="r" b="b"/>
            <a:pathLst>
              <a:path w="170453" h="170453">
                <a:moveTo>
                  <a:pt x="0" y="0"/>
                </a:moveTo>
                <a:lnTo>
                  <a:pt x="170453" y="0"/>
                </a:lnTo>
                <a:lnTo>
                  <a:pt x="170453" y="170452"/>
                </a:lnTo>
                <a:lnTo>
                  <a:pt x="0" y="17045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8" name="Freeform 18"/>
          <p:cNvSpPr/>
          <p:nvPr/>
        </p:nvSpPr>
        <p:spPr>
          <a:xfrm>
            <a:off x="416312" y="3960720"/>
            <a:ext cx="7074511" cy="5297580"/>
          </a:xfrm>
          <a:custGeom>
            <a:avLst/>
            <a:gdLst/>
            <a:ahLst/>
            <a:cxnLst/>
            <a:rect l="l" t="t" r="r" b="b"/>
            <a:pathLst>
              <a:path w="7074511" h="5297580">
                <a:moveTo>
                  <a:pt x="0" y="0"/>
                </a:moveTo>
                <a:lnTo>
                  <a:pt x="7074511" y="0"/>
                </a:lnTo>
                <a:lnTo>
                  <a:pt x="7074511" y="5297580"/>
                </a:lnTo>
                <a:lnTo>
                  <a:pt x="0" y="5297580"/>
                </a:lnTo>
                <a:lnTo>
                  <a:pt x="0" y="0"/>
                </a:lnTo>
                <a:close/>
              </a:path>
            </a:pathLst>
          </a:custGeom>
          <a:blipFill>
            <a:blip r:embed="rId9"/>
            <a:stretch>
              <a:fillRect/>
            </a:stretch>
          </a:blipFill>
        </p:spPr>
      </p:sp>
      <p:sp>
        <p:nvSpPr>
          <p:cNvPr id="19" name="TextBox 19"/>
          <p:cNvSpPr txBox="1"/>
          <p:nvPr/>
        </p:nvSpPr>
        <p:spPr>
          <a:xfrm>
            <a:off x="3924906" y="1542266"/>
            <a:ext cx="9940546" cy="1366697"/>
          </a:xfrm>
          <a:prstGeom prst="rect">
            <a:avLst/>
          </a:prstGeom>
        </p:spPr>
        <p:txBody>
          <a:bodyPr lIns="0" tIns="0" rIns="0" bIns="0" rtlCol="0" anchor="t">
            <a:spAutoFit/>
          </a:bodyPr>
          <a:lstStyle/>
          <a:p>
            <a:pPr algn="ctr">
              <a:lnSpc>
                <a:spcPts val="5159"/>
              </a:lnSpc>
            </a:pPr>
            <a:r>
              <a:rPr lang="en-US" sz="6142">
                <a:solidFill>
                  <a:srgbClr val="DEF0FF"/>
                </a:solidFill>
                <a:latin typeface="RQND Pro UltraWide"/>
                <a:ea typeface="RQND Pro UltraWide"/>
                <a:cs typeface="RQND Pro UltraWide"/>
                <a:sym typeface="RQND Pro UltraWide"/>
              </a:rPr>
              <a:t>Dataset: Penyakit Daun Cabai </a:t>
            </a:r>
          </a:p>
        </p:txBody>
      </p:sp>
      <p:sp>
        <p:nvSpPr>
          <p:cNvPr id="20" name="TextBox 20"/>
          <p:cNvSpPr txBox="1"/>
          <p:nvPr/>
        </p:nvSpPr>
        <p:spPr>
          <a:xfrm>
            <a:off x="8436267" y="5324886"/>
            <a:ext cx="8614615" cy="2483523"/>
          </a:xfrm>
          <a:prstGeom prst="rect">
            <a:avLst/>
          </a:prstGeom>
        </p:spPr>
        <p:txBody>
          <a:bodyPr lIns="0" tIns="0" rIns="0" bIns="0" rtlCol="0" anchor="t">
            <a:spAutoFit/>
          </a:bodyPr>
          <a:lstStyle/>
          <a:p>
            <a:pPr marL="509445" lvl="1" indent="-254722" algn="l">
              <a:lnSpc>
                <a:spcPts val="3303"/>
              </a:lnSpc>
              <a:buFont typeface="Arial"/>
              <a:buChar char="•"/>
            </a:pPr>
            <a:r>
              <a:rPr lang="en-US" sz="2359" spc="-94">
                <a:solidFill>
                  <a:srgbClr val="DEF0FF"/>
                </a:solidFill>
                <a:latin typeface="Telegraf"/>
                <a:ea typeface="Telegraf"/>
                <a:cs typeface="Telegraf"/>
                <a:sym typeface="Telegraf"/>
              </a:rPr>
              <a:t>1.515 citra daun cabai, format JPG, difoto dengan ponsel (Redmi 12, Redmi 13, Tecno Spark 8 Pro)</a:t>
            </a:r>
          </a:p>
          <a:p>
            <a:pPr marL="509445" lvl="1" indent="-254722" algn="l">
              <a:lnSpc>
                <a:spcPts val="3303"/>
              </a:lnSpc>
              <a:buFont typeface="Arial"/>
              <a:buChar char="•"/>
            </a:pPr>
            <a:r>
              <a:rPr lang="en-US" sz="2359" spc="-94">
                <a:solidFill>
                  <a:srgbClr val="DEF0FF"/>
                </a:solidFill>
                <a:latin typeface="Telegraf"/>
                <a:ea typeface="Telegraf"/>
                <a:cs typeface="Telegraf"/>
                <a:sym typeface="Telegraf"/>
              </a:rPr>
              <a:t>Lahan pertanian Divisi Rangpur, Bangladesh</a:t>
            </a:r>
          </a:p>
          <a:p>
            <a:pPr marL="509445" lvl="1" indent="-254722" algn="l">
              <a:lnSpc>
                <a:spcPts val="3303"/>
              </a:lnSpc>
              <a:buFont typeface="Arial"/>
              <a:buChar char="•"/>
            </a:pPr>
            <a:r>
              <a:rPr lang="en-US" sz="2359" spc="-94">
                <a:solidFill>
                  <a:srgbClr val="DEF0FF"/>
                </a:solidFill>
                <a:latin typeface="Telegraf"/>
                <a:ea typeface="Telegraf"/>
                <a:cs typeface="Telegraf"/>
                <a:sym typeface="Telegraf"/>
              </a:rPr>
              <a:t>4 kelas, dilabeli manual berdasarkan gejala terlihat</a:t>
            </a:r>
          </a:p>
          <a:p>
            <a:pPr marL="509445" lvl="1" indent="-254722" algn="l">
              <a:lnSpc>
                <a:spcPts val="3303"/>
              </a:lnSpc>
              <a:buFont typeface="Arial"/>
              <a:buChar char="•"/>
            </a:pPr>
            <a:r>
              <a:rPr lang="en-US" sz="2359" spc="-94">
                <a:solidFill>
                  <a:srgbClr val="DEF0FF"/>
                </a:solidFill>
                <a:latin typeface="Telegraf"/>
                <a:ea typeface="Telegraf"/>
                <a:cs typeface="Telegraf"/>
                <a:sym typeface="Telegraf"/>
              </a:rPr>
              <a:t>Foto asli ±12 MP (sekitar 4080×3072) dengan latar relatif polos</a:t>
            </a:r>
          </a:p>
          <a:p>
            <a:pPr algn="l">
              <a:lnSpc>
                <a:spcPts val="3303"/>
              </a:lnSpc>
              <a:spcBef>
                <a:spcPct val="0"/>
              </a:spcBef>
            </a:pPr>
            <a:endParaRPr lang="en-US" sz="2359" spc="-94">
              <a:solidFill>
                <a:srgbClr val="DEF0FF"/>
              </a:solidFill>
              <a:latin typeface="Telegraf"/>
              <a:ea typeface="Telegraf"/>
              <a:cs typeface="Telegraf"/>
              <a:sym typeface="Telegraf"/>
            </a:endParaRPr>
          </a:p>
        </p:txBody>
      </p:sp>
      <p:sp>
        <p:nvSpPr>
          <p:cNvPr id="21" name="TextBox 21"/>
          <p:cNvSpPr txBox="1"/>
          <p:nvPr/>
        </p:nvSpPr>
        <p:spPr>
          <a:xfrm>
            <a:off x="15742113" y="657054"/>
            <a:ext cx="813226" cy="269306"/>
          </a:xfrm>
          <a:prstGeom prst="rect">
            <a:avLst/>
          </a:prstGeom>
        </p:spPr>
        <p:txBody>
          <a:bodyPr lIns="0" tIns="0" rIns="0" bIns="0" rtlCol="0" anchor="t">
            <a:spAutoFit/>
          </a:bodyPr>
          <a:lstStyle/>
          <a:p>
            <a:pPr algn="ctr">
              <a:lnSpc>
                <a:spcPts val="1960"/>
              </a:lnSpc>
              <a:spcBef>
                <a:spcPct val="0"/>
              </a:spcBef>
            </a:pPr>
            <a:r>
              <a:rPr lang="en-US" sz="1400" spc="-56">
                <a:solidFill>
                  <a:srgbClr val="DEF0FF"/>
                </a:solidFill>
                <a:latin typeface="Telegraf"/>
                <a:ea typeface="Telegraf"/>
                <a:cs typeface="Telegraf"/>
                <a:sym typeface="Telegraf"/>
              </a:rPr>
              <a:t>Contact</a:t>
            </a:r>
          </a:p>
        </p:txBody>
      </p:sp>
      <p:sp>
        <p:nvSpPr>
          <p:cNvPr id="22" name="TextBox 22"/>
          <p:cNvSpPr txBox="1"/>
          <p:nvPr/>
        </p:nvSpPr>
        <p:spPr>
          <a:xfrm>
            <a:off x="6878436" y="657054"/>
            <a:ext cx="751945" cy="269240"/>
          </a:xfrm>
          <a:prstGeom prst="rect">
            <a:avLst/>
          </a:prstGeom>
        </p:spPr>
        <p:txBody>
          <a:bodyPr lIns="0" tIns="0" rIns="0" bIns="0" rtlCol="0" anchor="t">
            <a:spAutoFit/>
          </a:bodyPr>
          <a:lstStyle/>
          <a:p>
            <a:pPr algn="ctr">
              <a:lnSpc>
                <a:spcPts val="1960"/>
              </a:lnSpc>
              <a:spcBef>
                <a:spcPct val="0"/>
              </a:spcBef>
            </a:pPr>
            <a:r>
              <a:rPr lang="en-US" sz="1400" b="1" spc="-56">
                <a:solidFill>
                  <a:srgbClr val="DEF0FF"/>
                </a:solidFill>
                <a:latin typeface="Telegraf Bold"/>
                <a:ea typeface="Telegraf Bold"/>
                <a:cs typeface="Telegraf Bold"/>
                <a:sym typeface="Telegraf Bold"/>
              </a:rPr>
              <a:t>Home</a:t>
            </a:r>
          </a:p>
        </p:txBody>
      </p:sp>
      <p:sp>
        <p:nvSpPr>
          <p:cNvPr id="23" name="TextBox 23"/>
          <p:cNvSpPr txBox="1"/>
          <p:nvPr/>
        </p:nvSpPr>
        <p:spPr>
          <a:xfrm>
            <a:off x="7967106" y="657054"/>
            <a:ext cx="928073"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Services</a:t>
            </a:r>
          </a:p>
        </p:txBody>
      </p:sp>
      <p:sp>
        <p:nvSpPr>
          <p:cNvPr id="24" name="TextBox 24"/>
          <p:cNvSpPr txBox="1"/>
          <p:nvPr/>
        </p:nvSpPr>
        <p:spPr>
          <a:xfrm>
            <a:off x="10486033" y="657054"/>
            <a:ext cx="923532"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About Us</a:t>
            </a:r>
          </a:p>
        </p:txBody>
      </p:sp>
      <p:sp>
        <p:nvSpPr>
          <p:cNvPr id="25" name="TextBox 25"/>
          <p:cNvSpPr txBox="1"/>
          <p:nvPr/>
        </p:nvSpPr>
        <p:spPr>
          <a:xfrm>
            <a:off x="9231904" y="657054"/>
            <a:ext cx="917404"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Features</a:t>
            </a:r>
          </a:p>
        </p:txBody>
      </p:sp>
      <p:sp>
        <p:nvSpPr>
          <p:cNvPr id="26" name="TextBox 26"/>
          <p:cNvSpPr txBox="1"/>
          <p:nvPr/>
        </p:nvSpPr>
        <p:spPr>
          <a:xfrm>
            <a:off x="171269" y="9477375"/>
            <a:ext cx="8614615" cy="435412"/>
          </a:xfrm>
          <a:prstGeom prst="rect">
            <a:avLst/>
          </a:prstGeom>
        </p:spPr>
        <p:txBody>
          <a:bodyPr lIns="0" tIns="0" rIns="0" bIns="0" rtlCol="0" anchor="t">
            <a:spAutoFit/>
          </a:bodyPr>
          <a:lstStyle/>
          <a:p>
            <a:pPr marL="509445" lvl="1" indent="-254722" algn="l">
              <a:lnSpc>
                <a:spcPts val="3303"/>
              </a:lnSpc>
              <a:spcBef>
                <a:spcPct val="0"/>
              </a:spcBef>
              <a:buFont typeface="Arial"/>
              <a:buChar char="•"/>
            </a:pPr>
            <a:r>
              <a:rPr lang="en-US" sz="2359" spc="-94">
                <a:solidFill>
                  <a:srgbClr val="DEF0FF"/>
                </a:solidFill>
                <a:latin typeface="Telegraf"/>
                <a:ea typeface="Telegraf"/>
                <a:cs typeface="Telegraf"/>
                <a:sym typeface="Telegraf"/>
              </a:rPr>
              <a:t>Sumber: data.mendeley.com/datasets/wzc6r6w5w5/3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grpSp>
        <p:nvGrpSpPr>
          <p:cNvPr id="3" name="Group 3"/>
          <p:cNvGrpSpPr/>
          <p:nvPr/>
        </p:nvGrpSpPr>
        <p:grpSpPr>
          <a:xfrm>
            <a:off x="1028700" y="611864"/>
            <a:ext cx="2704510" cy="416836"/>
            <a:chOff x="0" y="0"/>
            <a:chExt cx="712299" cy="109784"/>
          </a:xfrm>
        </p:grpSpPr>
        <p:sp>
          <p:nvSpPr>
            <p:cNvPr id="4" name="Freeform 4"/>
            <p:cNvSpPr/>
            <p:nvPr/>
          </p:nvSpPr>
          <p:spPr>
            <a:xfrm>
              <a:off x="0" y="0"/>
              <a:ext cx="712299" cy="109784"/>
            </a:xfrm>
            <a:custGeom>
              <a:avLst/>
              <a:gdLst/>
              <a:ahLst/>
              <a:cxnLst/>
              <a:rect l="l" t="t" r="r" b="b"/>
              <a:pathLst>
                <a:path w="712299" h="109784">
                  <a:moveTo>
                    <a:pt x="54892" y="0"/>
                  </a:moveTo>
                  <a:lnTo>
                    <a:pt x="657407" y="0"/>
                  </a:lnTo>
                  <a:cubicBezTo>
                    <a:pt x="671965" y="0"/>
                    <a:pt x="685927" y="5783"/>
                    <a:pt x="696221" y="16077"/>
                  </a:cubicBezTo>
                  <a:cubicBezTo>
                    <a:pt x="706516" y="26372"/>
                    <a:pt x="712299" y="40334"/>
                    <a:pt x="712299" y="54892"/>
                  </a:cubicBezTo>
                  <a:lnTo>
                    <a:pt x="712299" y="54892"/>
                  </a:lnTo>
                  <a:cubicBezTo>
                    <a:pt x="712299" y="85208"/>
                    <a:pt x="687723" y="109784"/>
                    <a:pt x="657407"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ln w="9525" cap="rnd">
              <a:solidFill>
                <a:srgbClr val="FFFFFF">
                  <a:alpha val="49804"/>
                </a:srgbClr>
              </a:solidFill>
              <a:prstDash val="solid"/>
              <a:round/>
            </a:ln>
          </p:spPr>
        </p:sp>
        <p:sp>
          <p:nvSpPr>
            <p:cNvPr id="5" name="TextBox 5"/>
            <p:cNvSpPr txBox="1"/>
            <p:nvPr/>
          </p:nvSpPr>
          <p:spPr>
            <a:xfrm>
              <a:off x="0" y="-38100"/>
              <a:ext cx="712299" cy="147884"/>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5558984" y="611864"/>
            <a:ext cx="1179483" cy="416836"/>
            <a:chOff x="0" y="0"/>
            <a:chExt cx="310646" cy="109784"/>
          </a:xfrm>
        </p:grpSpPr>
        <p:sp>
          <p:nvSpPr>
            <p:cNvPr id="7" name="Freeform 7"/>
            <p:cNvSpPr/>
            <p:nvPr/>
          </p:nvSpPr>
          <p:spPr>
            <a:xfrm>
              <a:off x="0" y="0"/>
              <a:ext cx="310646" cy="109784"/>
            </a:xfrm>
            <a:custGeom>
              <a:avLst/>
              <a:gdLst/>
              <a:ahLst/>
              <a:cxnLst/>
              <a:rect l="l" t="t" r="r" b="b"/>
              <a:pathLst>
                <a:path w="310646" h="109784">
                  <a:moveTo>
                    <a:pt x="54892" y="0"/>
                  </a:moveTo>
                  <a:lnTo>
                    <a:pt x="255754" y="0"/>
                  </a:lnTo>
                  <a:cubicBezTo>
                    <a:pt x="286070" y="0"/>
                    <a:pt x="310646" y="24576"/>
                    <a:pt x="310646" y="54892"/>
                  </a:cubicBezTo>
                  <a:lnTo>
                    <a:pt x="310646" y="54892"/>
                  </a:lnTo>
                  <a:cubicBezTo>
                    <a:pt x="310646" y="69450"/>
                    <a:pt x="304862" y="83412"/>
                    <a:pt x="294568" y="93706"/>
                  </a:cubicBezTo>
                  <a:cubicBezTo>
                    <a:pt x="284274" y="104001"/>
                    <a:pt x="270312" y="109784"/>
                    <a:pt x="255754"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ln w="9525" cap="rnd">
              <a:solidFill>
                <a:srgbClr val="FFFFFF">
                  <a:alpha val="49804"/>
                </a:srgbClr>
              </a:solidFill>
              <a:prstDash val="solid"/>
              <a:round/>
            </a:ln>
          </p:spPr>
        </p:sp>
        <p:sp>
          <p:nvSpPr>
            <p:cNvPr id="8" name="TextBox 8"/>
            <p:cNvSpPr txBox="1"/>
            <p:nvPr/>
          </p:nvSpPr>
          <p:spPr>
            <a:xfrm>
              <a:off x="0" y="-38100"/>
              <a:ext cx="310646" cy="14788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16842464" y="611864"/>
            <a:ext cx="416836" cy="416836"/>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ln w="9525" cap="rnd">
              <a:solidFill>
                <a:srgbClr val="FFFFFF">
                  <a:alpha val="49804"/>
                </a:srgbClr>
              </a:solidFill>
              <a:prstDash val="solid"/>
              <a:round/>
            </a:ln>
          </p:spPr>
        </p:sp>
        <p:sp>
          <p:nvSpPr>
            <p:cNvPr id="11" name="TextBox 11"/>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2" name="Freeform 12"/>
          <p:cNvSpPr/>
          <p:nvPr/>
        </p:nvSpPr>
        <p:spPr>
          <a:xfrm>
            <a:off x="16954260" y="755908"/>
            <a:ext cx="193244" cy="128749"/>
          </a:xfrm>
          <a:custGeom>
            <a:avLst/>
            <a:gdLst/>
            <a:ahLst/>
            <a:cxnLst/>
            <a:rect l="l" t="t" r="r" b="b"/>
            <a:pathLst>
              <a:path w="193244" h="128749">
                <a:moveTo>
                  <a:pt x="0" y="0"/>
                </a:moveTo>
                <a:lnTo>
                  <a:pt x="193244" y="0"/>
                </a:lnTo>
                <a:lnTo>
                  <a:pt x="193244" y="128749"/>
                </a:lnTo>
                <a:lnTo>
                  <a:pt x="0" y="1287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Freeform 13"/>
          <p:cNvSpPr/>
          <p:nvPr/>
        </p:nvSpPr>
        <p:spPr>
          <a:xfrm>
            <a:off x="3386715" y="735023"/>
            <a:ext cx="170453" cy="170453"/>
          </a:xfrm>
          <a:custGeom>
            <a:avLst/>
            <a:gdLst/>
            <a:ahLst/>
            <a:cxnLst/>
            <a:rect l="l" t="t" r="r" b="b"/>
            <a:pathLst>
              <a:path w="170453" h="170453">
                <a:moveTo>
                  <a:pt x="0" y="0"/>
                </a:moveTo>
                <a:lnTo>
                  <a:pt x="170453" y="0"/>
                </a:lnTo>
                <a:lnTo>
                  <a:pt x="170453" y="170452"/>
                </a:lnTo>
                <a:lnTo>
                  <a:pt x="0" y="17045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4" name="TextBox 14"/>
          <p:cNvSpPr txBox="1"/>
          <p:nvPr/>
        </p:nvSpPr>
        <p:spPr>
          <a:xfrm>
            <a:off x="4314538" y="4671146"/>
            <a:ext cx="2503537" cy="1272540"/>
          </a:xfrm>
          <a:prstGeom prst="rect">
            <a:avLst/>
          </a:prstGeom>
        </p:spPr>
        <p:txBody>
          <a:bodyPr lIns="0" tIns="0" rIns="0" bIns="0" rtlCol="0" anchor="t">
            <a:spAutoFit/>
          </a:bodyPr>
          <a:lstStyle/>
          <a:p>
            <a:pPr algn="ctr">
              <a:lnSpc>
                <a:spcPts val="3359"/>
              </a:lnSpc>
            </a:pPr>
            <a:r>
              <a:rPr lang="en-US" sz="2400" b="1" spc="-96">
                <a:solidFill>
                  <a:srgbClr val="DEF0FF"/>
                </a:solidFill>
                <a:latin typeface="Telegraf Bold"/>
                <a:ea typeface="Telegraf Bold"/>
                <a:cs typeface="Telegraf Bold"/>
                <a:sym typeface="Telegraf Bold"/>
              </a:rPr>
              <a:t>Split stratified</a:t>
            </a:r>
          </a:p>
          <a:p>
            <a:pPr algn="ctr">
              <a:lnSpc>
                <a:spcPts val="3359"/>
              </a:lnSpc>
            </a:pPr>
            <a:r>
              <a:rPr lang="en-US" sz="2400" b="1" spc="-96">
                <a:solidFill>
                  <a:srgbClr val="DEF0FF"/>
                </a:solidFill>
                <a:latin typeface="Telegraf Bold"/>
                <a:ea typeface="Telegraf Bold"/>
                <a:cs typeface="Telegraf Bold"/>
                <a:sym typeface="Telegraf Bold"/>
              </a:rPr>
              <a:t>70/15/15</a:t>
            </a:r>
          </a:p>
          <a:p>
            <a:pPr algn="ctr">
              <a:lnSpc>
                <a:spcPts val="3359"/>
              </a:lnSpc>
              <a:spcBef>
                <a:spcPct val="0"/>
              </a:spcBef>
            </a:pPr>
            <a:endParaRPr lang="en-US" sz="2400" b="1" spc="-96">
              <a:solidFill>
                <a:srgbClr val="DEF0FF"/>
              </a:solidFill>
              <a:latin typeface="Telegraf Bold"/>
              <a:ea typeface="Telegraf Bold"/>
              <a:cs typeface="Telegraf Bold"/>
              <a:sym typeface="Telegraf Bold"/>
            </a:endParaRPr>
          </a:p>
        </p:txBody>
      </p:sp>
      <p:grpSp>
        <p:nvGrpSpPr>
          <p:cNvPr id="15" name="Group 15"/>
          <p:cNvGrpSpPr/>
          <p:nvPr/>
        </p:nvGrpSpPr>
        <p:grpSpPr>
          <a:xfrm>
            <a:off x="880141" y="4205502"/>
            <a:ext cx="2448133" cy="2241411"/>
            <a:chOff x="0" y="0"/>
            <a:chExt cx="1242291" cy="1137391"/>
          </a:xfrm>
        </p:grpSpPr>
        <p:sp>
          <p:nvSpPr>
            <p:cNvPr id="16" name="Freeform 16"/>
            <p:cNvSpPr/>
            <p:nvPr/>
          </p:nvSpPr>
          <p:spPr>
            <a:xfrm>
              <a:off x="0" y="0"/>
              <a:ext cx="1242291" cy="1137391"/>
            </a:xfrm>
            <a:custGeom>
              <a:avLst/>
              <a:gdLst/>
              <a:ahLst/>
              <a:cxnLst/>
              <a:rect l="l" t="t" r="r" b="b"/>
              <a:pathLst>
                <a:path w="1242291" h="1137391">
                  <a:moveTo>
                    <a:pt x="1082271" y="0"/>
                  </a:moveTo>
                  <a:lnTo>
                    <a:pt x="160020" y="0"/>
                  </a:lnTo>
                  <a:lnTo>
                    <a:pt x="0" y="160020"/>
                  </a:lnTo>
                  <a:lnTo>
                    <a:pt x="0" y="977371"/>
                  </a:lnTo>
                  <a:lnTo>
                    <a:pt x="160020" y="1137391"/>
                  </a:lnTo>
                  <a:lnTo>
                    <a:pt x="1082271" y="1137391"/>
                  </a:lnTo>
                  <a:lnTo>
                    <a:pt x="1242291" y="977371"/>
                  </a:lnTo>
                  <a:lnTo>
                    <a:pt x="1242291" y="160020"/>
                  </a:lnTo>
                  <a:lnTo>
                    <a:pt x="1082271" y="0"/>
                  </a:lnTo>
                  <a:close/>
                </a:path>
              </a:pathLst>
            </a:custGeom>
            <a:ln w="9525" cap="sq">
              <a:solidFill>
                <a:srgbClr val="DEF0FF">
                  <a:alpha val="49804"/>
                </a:srgbClr>
              </a:solidFill>
              <a:prstDash val="solid"/>
              <a:miter/>
            </a:ln>
          </p:spPr>
        </p:sp>
        <p:sp>
          <p:nvSpPr>
            <p:cNvPr id="17" name="TextBox 17"/>
            <p:cNvSpPr txBox="1"/>
            <p:nvPr/>
          </p:nvSpPr>
          <p:spPr>
            <a:xfrm>
              <a:off x="63500" y="6350"/>
              <a:ext cx="1115291" cy="1067541"/>
            </a:xfrm>
            <a:prstGeom prst="rect">
              <a:avLst/>
            </a:prstGeom>
          </p:spPr>
          <p:txBody>
            <a:bodyPr lIns="50800" tIns="50800" rIns="50800" bIns="50800" rtlCol="0" anchor="ctr"/>
            <a:lstStyle/>
            <a:p>
              <a:pPr algn="ctr">
                <a:lnSpc>
                  <a:spcPts val="1960"/>
                </a:lnSpc>
              </a:pPr>
              <a:endParaRPr/>
            </a:p>
          </p:txBody>
        </p:sp>
      </p:grpSp>
      <p:sp>
        <p:nvSpPr>
          <p:cNvPr id="18" name="TextBox 18"/>
          <p:cNvSpPr txBox="1"/>
          <p:nvPr/>
        </p:nvSpPr>
        <p:spPr>
          <a:xfrm>
            <a:off x="7901343" y="4317353"/>
            <a:ext cx="2503537" cy="1691640"/>
          </a:xfrm>
          <a:prstGeom prst="rect">
            <a:avLst/>
          </a:prstGeom>
        </p:spPr>
        <p:txBody>
          <a:bodyPr lIns="0" tIns="0" rIns="0" bIns="0" rtlCol="0" anchor="t">
            <a:spAutoFit/>
          </a:bodyPr>
          <a:lstStyle/>
          <a:p>
            <a:pPr algn="ctr">
              <a:lnSpc>
                <a:spcPts val="3359"/>
              </a:lnSpc>
            </a:pPr>
            <a:r>
              <a:rPr lang="en-US" sz="2400" b="1" spc="-96">
                <a:solidFill>
                  <a:srgbClr val="DEF0FF"/>
                </a:solidFill>
                <a:latin typeface="Telegraf Bold"/>
                <a:ea typeface="Telegraf Bold"/>
                <a:cs typeface="Telegraf Bold"/>
                <a:sym typeface="Telegraf Bold"/>
              </a:rPr>
              <a:t>Preprocessing</a:t>
            </a:r>
          </a:p>
          <a:p>
            <a:pPr algn="ctr">
              <a:lnSpc>
                <a:spcPts val="3359"/>
              </a:lnSpc>
            </a:pPr>
            <a:r>
              <a:rPr lang="en-US" sz="2400" b="1" spc="-96">
                <a:solidFill>
                  <a:srgbClr val="DEF0FF"/>
                </a:solidFill>
                <a:latin typeface="Telegraf Bold"/>
                <a:ea typeface="Telegraf Bold"/>
                <a:cs typeface="Telegraf Bold"/>
                <a:sym typeface="Telegraf Bold"/>
              </a:rPr>
              <a:t>+ bersihkan duplikat</a:t>
            </a:r>
          </a:p>
          <a:p>
            <a:pPr algn="ctr">
              <a:lnSpc>
                <a:spcPts val="3359"/>
              </a:lnSpc>
              <a:spcBef>
                <a:spcPct val="0"/>
              </a:spcBef>
            </a:pPr>
            <a:endParaRPr lang="en-US" sz="2400" b="1" spc="-96">
              <a:solidFill>
                <a:srgbClr val="DEF0FF"/>
              </a:solidFill>
              <a:latin typeface="Telegraf Bold"/>
              <a:ea typeface="Telegraf Bold"/>
              <a:cs typeface="Telegraf Bold"/>
              <a:sym typeface="Telegraf Bold"/>
            </a:endParaRPr>
          </a:p>
        </p:txBody>
      </p:sp>
      <p:sp>
        <p:nvSpPr>
          <p:cNvPr id="19" name="TextBox 19"/>
          <p:cNvSpPr txBox="1"/>
          <p:nvPr/>
        </p:nvSpPr>
        <p:spPr>
          <a:xfrm>
            <a:off x="11471269" y="4736453"/>
            <a:ext cx="2503537" cy="853440"/>
          </a:xfrm>
          <a:prstGeom prst="rect">
            <a:avLst/>
          </a:prstGeom>
        </p:spPr>
        <p:txBody>
          <a:bodyPr lIns="0" tIns="0" rIns="0" bIns="0" rtlCol="0" anchor="t">
            <a:spAutoFit/>
          </a:bodyPr>
          <a:lstStyle/>
          <a:p>
            <a:pPr algn="ctr">
              <a:lnSpc>
                <a:spcPts val="3359"/>
              </a:lnSpc>
            </a:pPr>
            <a:r>
              <a:rPr lang="en-US" sz="2400" b="1" spc="-96">
                <a:solidFill>
                  <a:srgbClr val="DEF0FF"/>
                </a:solidFill>
                <a:latin typeface="Telegraf Bold"/>
                <a:ea typeface="Telegraf Bold"/>
                <a:cs typeface="Telegraf Bold"/>
                <a:sym typeface="Telegraf Bold"/>
              </a:rPr>
              <a:t>Latih 4 skenario</a:t>
            </a:r>
          </a:p>
          <a:p>
            <a:pPr algn="ctr">
              <a:lnSpc>
                <a:spcPts val="3359"/>
              </a:lnSpc>
              <a:spcBef>
                <a:spcPct val="0"/>
              </a:spcBef>
            </a:pPr>
            <a:r>
              <a:rPr lang="en-US" sz="2400" b="1" spc="-96">
                <a:solidFill>
                  <a:srgbClr val="DEF0FF"/>
                </a:solidFill>
                <a:latin typeface="Telegraf Bold"/>
                <a:ea typeface="Telegraf Bold"/>
                <a:cs typeface="Telegraf Bold"/>
                <a:sym typeface="Telegraf Bold"/>
              </a:rPr>
              <a:t>(15 epoch)</a:t>
            </a:r>
          </a:p>
        </p:txBody>
      </p:sp>
      <p:sp>
        <p:nvSpPr>
          <p:cNvPr id="20" name="TextBox 20"/>
          <p:cNvSpPr txBox="1"/>
          <p:nvPr/>
        </p:nvSpPr>
        <p:spPr>
          <a:xfrm>
            <a:off x="15114541" y="4687108"/>
            <a:ext cx="2503537" cy="853440"/>
          </a:xfrm>
          <a:prstGeom prst="rect">
            <a:avLst/>
          </a:prstGeom>
        </p:spPr>
        <p:txBody>
          <a:bodyPr lIns="0" tIns="0" rIns="0" bIns="0" rtlCol="0" anchor="t">
            <a:spAutoFit/>
          </a:bodyPr>
          <a:lstStyle/>
          <a:p>
            <a:pPr algn="ctr">
              <a:lnSpc>
                <a:spcPts val="3359"/>
              </a:lnSpc>
            </a:pPr>
            <a:r>
              <a:rPr lang="en-US" sz="2400" b="1" spc="-96">
                <a:solidFill>
                  <a:srgbClr val="DEF0FF"/>
                </a:solidFill>
                <a:latin typeface="Telegraf Bold"/>
                <a:ea typeface="Telegraf Bold"/>
                <a:cs typeface="Telegraf Bold"/>
                <a:sym typeface="Telegraf Bold"/>
              </a:rPr>
              <a:t>Evaluasi &amp;</a:t>
            </a:r>
          </a:p>
          <a:p>
            <a:pPr algn="ctr">
              <a:lnSpc>
                <a:spcPts val="3359"/>
              </a:lnSpc>
              <a:spcBef>
                <a:spcPct val="0"/>
              </a:spcBef>
            </a:pPr>
            <a:r>
              <a:rPr lang="en-US" sz="2400" b="1" spc="-96">
                <a:solidFill>
                  <a:srgbClr val="DEF0FF"/>
                </a:solidFill>
                <a:latin typeface="Telegraf Bold"/>
                <a:ea typeface="Telegraf Bold"/>
                <a:cs typeface="Telegraf Bold"/>
                <a:sym typeface="Telegraf Bold"/>
              </a:rPr>
              <a:t>interpretasi</a:t>
            </a:r>
          </a:p>
        </p:txBody>
      </p:sp>
      <p:sp>
        <p:nvSpPr>
          <p:cNvPr id="21" name="Freeform 21"/>
          <p:cNvSpPr/>
          <p:nvPr/>
        </p:nvSpPr>
        <p:spPr>
          <a:xfrm>
            <a:off x="3452091" y="4983982"/>
            <a:ext cx="738622" cy="738622"/>
          </a:xfrm>
          <a:custGeom>
            <a:avLst/>
            <a:gdLst/>
            <a:ahLst/>
            <a:cxnLst/>
            <a:rect l="l" t="t" r="r" b="b"/>
            <a:pathLst>
              <a:path w="738622" h="738622">
                <a:moveTo>
                  <a:pt x="0" y="0"/>
                </a:moveTo>
                <a:lnTo>
                  <a:pt x="738622" y="0"/>
                </a:lnTo>
                <a:lnTo>
                  <a:pt x="738622" y="738622"/>
                </a:lnTo>
                <a:lnTo>
                  <a:pt x="0" y="73862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22" name="Group 22"/>
          <p:cNvGrpSpPr/>
          <p:nvPr/>
        </p:nvGrpSpPr>
        <p:grpSpPr>
          <a:xfrm>
            <a:off x="4390738" y="4099877"/>
            <a:ext cx="2448133" cy="2241411"/>
            <a:chOff x="0" y="0"/>
            <a:chExt cx="1242291" cy="1137391"/>
          </a:xfrm>
        </p:grpSpPr>
        <p:sp>
          <p:nvSpPr>
            <p:cNvPr id="23" name="Freeform 23"/>
            <p:cNvSpPr/>
            <p:nvPr/>
          </p:nvSpPr>
          <p:spPr>
            <a:xfrm>
              <a:off x="0" y="0"/>
              <a:ext cx="1242291" cy="1137391"/>
            </a:xfrm>
            <a:custGeom>
              <a:avLst/>
              <a:gdLst/>
              <a:ahLst/>
              <a:cxnLst/>
              <a:rect l="l" t="t" r="r" b="b"/>
              <a:pathLst>
                <a:path w="1242291" h="1137391">
                  <a:moveTo>
                    <a:pt x="1082271" y="0"/>
                  </a:moveTo>
                  <a:lnTo>
                    <a:pt x="160020" y="0"/>
                  </a:lnTo>
                  <a:lnTo>
                    <a:pt x="0" y="160020"/>
                  </a:lnTo>
                  <a:lnTo>
                    <a:pt x="0" y="977371"/>
                  </a:lnTo>
                  <a:lnTo>
                    <a:pt x="160020" y="1137391"/>
                  </a:lnTo>
                  <a:lnTo>
                    <a:pt x="1082271" y="1137391"/>
                  </a:lnTo>
                  <a:lnTo>
                    <a:pt x="1242291" y="977371"/>
                  </a:lnTo>
                  <a:lnTo>
                    <a:pt x="1242291" y="160020"/>
                  </a:lnTo>
                  <a:lnTo>
                    <a:pt x="1082271" y="0"/>
                  </a:lnTo>
                  <a:close/>
                </a:path>
              </a:pathLst>
            </a:custGeom>
            <a:ln w="9525" cap="sq">
              <a:solidFill>
                <a:srgbClr val="DEF0FF">
                  <a:alpha val="49804"/>
                </a:srgbClr>
              </a:solidFill>
              <a:prstDash val="solid"/>
              <a:miter/>
            </a:ln>
          </p:spPr>
        </p:sp>
        <p:sp>
          <p:nvSpPr>
            <p:cNvPr id="24" name="TextBox 24"/>
            <p:cNvSpPr txBox="1"/>
            <p:nvPr/>
          </p:nvSpPr>
          <p:spPr>
            <a:xfrm>
              <a:off x="63500" y="6350"/>
              <a:ext cx="1115291" cy="1067541"/>
            </a:xfrm>
            <a:prstGeom prst="rect">
              <a:avLst/>
            </a:prstGeom>
          </p:spPr>
          <p:txBody>
            <a:bodyPr lIns="50800" tIns="50800" rIns="50800" bIns="50800" rtlCol="0" anchor="ctr"/>
            <a:lstStyle/>
            <a:p>
              <a:pPr algn="ctr">
                <a:lnSpc>
                  <a:spcPts val="1960"/>
                </a:lnSpc>
              </a:pPr>
              <a:endParaRPr/>
            </a:p>
          </p:txBody>
        </p:sp>
      </p:grpSp>
      <p:sp>
        <p:nvSpPr>
          <p:cNvPr id="25" name="Freeform 25"/>
          <p:cNvSpPr/>
          <p:nvPr/>
        </p:nvSpPr>
        <p:spPr>
          <a:xfrm>
            <a:off x="7000796" y="4956896"/>
            <a:ext cx="738622" cy="738622"/>
          </a:xfrm>
          <a:custGeom>
            <a:avLst/>
            <a:gdLst/>
            <a:ahLst/>
            <a:cxnLst/>
            <a:rect l="l" t="t" r="r" b="b"/>
            <a:pathLst>
              <a:path w="738622" h="738622">
                <a:moveTo>
                  <a:pt x="0" y="0"/>
                </a:moveTo>
                <a:lnTo>
                  <a:pt x="738622" y="0"/>
                </a:lnTo>
                <a:lnTo>
                  <a:pt x="738622" y="738623"/>
                </a:lnTo>
                <a:lnTo>
                  <a:pt x="0" y="73862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26" name="Group 26"/>
          <p:cNvGrpSpPr/>
          <p:nvPr/>
        </p:nvGrpSpPr>
        <p:grpSpPr>
          <a:xfrm>
            <a:off x="7960664" y="4080568"/>
            <a:ext cx="2448133" cy="2241411"/>
            <a:chOff x="0" y="0"/>
            <a:chExt cx="1242291" cy="1137391"/>
          </a:xfrm>
        </p:grpSpPr>
        <p:sp>
          <p:nvSpPr>
            <p:cNvPr id="27" name="Freeform 27"/>
            <p:cNvSpPr/>
            <p:nvPr/>
          </p:nvSpPr>
          <p:spPr>
            <a:xfrm>
              <a:off x="0" y="0"/>
              <a:ext cx="1242291" cy="1137391"/>
            </a:xfrm>
            <a:custGeom>
              <a:avLst/>
              <a:gdLst/>
              <a:ahLst/>
              <a:cxnLst/>
              <a:rect l="l" t="t" r="r" b="b"/>
              <a:pathLst>
                <a:path w="1242291" h="1137391">
                  <a:moveTo>
                    <a:pt x="1082271" y="0"/>
                  </a:moveTo>
                  <a:lnTo>
                    <a:pt x="160020" y="0"/>
                  </a:lnTo>
                  <a:lnTo>
                    <a:pt x="0" y="160020"/>
                  </a:lnTo>
                  <a:lnTo>
                    <a:pt x="0" y="977371"/>
                  </a:lnTo>
                  <a:lnTo>
                    <a:pt x="160020" y="1137391"/>
                  </a:lnTo>
                  <a:lnTo>
                    <a:pt x="1082271" y="1137391"/>
                  </a:lnTo>
                  <a:lnTo>
                    <a:pt x="1242291" y="977371"/>
                  </a:lnTo>
                  <a:lnTo>
                    <a:pt x="1242291" y="160020"/>
                  </a:lnTo>
                  <a:lnTo>
                    <a:pt x="1082271" y="0"/>
                  </a:lnTo>
                  <a:close/>
                </a:path>
              </a:pathLst>
            </a:custGeom>
            <a:ln w="9525" cap="sq">
              <a:solidFill>
                <a:srgbClr val="DEF0FF">
                  <a:alpha val="49804"/>
                </a:srgbClr>
              </a:solidFill>
              <a:prstDash val="solid"/>
              <a:miter/>
            </a:ln>
          </p:spPr>
        </p:sp>
        <p:sp>
          <p:nvSpPr>
            <p:cNvPr id="28" name="TextBox 28"/>
            <p:cNvSpPr txBox="1"/>
            <p:nvPr/>
          </p:nvSpPr>
          <p:spPr>
            <a:xfrm>
              <a:off x="63500" y="6350"/>
              <a:ext cx="1115291" cy="1067541"/>
            </a:xfrm>
            <a:prstGeom prst="rect">
              <a:avLst/>
            </a:prstGeom>
          </p:spPr>
          <p:txBody>
            <a:bodyPr lIns="50800" tIns="50800" rIns="50800" bIns="50800" rtlCol="0" anchor="ctr"/>
            <a:lstStyle/>
            <a:p>
              <a:pPr algn="ctr">
                <a:lnSpc>
                  <a:spcPts val="1960"/>
                </a:lnSpc>
              </a:pPr>
              <a:endParaRPr/>
            </a:p>
          </p:txBody>
        </p:sp>
      </p:grpSp>
      <p:grpSp>
        <p:nvGrpSpPr>
          <p:cNvPr id="29" name="Group 29"/>
          <p:cNvGrpSpPr/>
          <p:nvPr/>
        </p:nvGrpSpPr>
        <p:grpSpPr>
          <a:xfrm>
            <a:off x="11471269" y="4080568"/>
            <a:ext cx="2448133" cy="2241411"/>
            <a:chOff x="0" y="0"/>
            <a:chExt cx="1242291" cy="1137391"/>
          </a:xfrm>
        </p:grpSpPr>
        <p:sp>
          <p:nvSpPr>
            <p:cNvPr id="30" name="Freeform 30"/>
            <p:cNvSpPr/>
            <p:nvPr/>
          </p:nvSpPr>
          <p:spPr>
            <a:xfrm>
              <a:off x="0" y="0"/>
              <a:ext cx="1242291" cy="1137391"/>
            </a:xfrm>
            <a:custGeom>
              <a:avLst/>
              <a:gdLst/>
              <a:ahLst/>
              <a:cxnLst/>
              <a:rect l="l" t="t" r="r" b="b"/>
              <a:pathLst>
                <a:path w="1242291" h="1137391">
                  <a:moveTo>
                    <a:pt x="1082271" y="0"/>
                  </a:moveTo>
                  <a:lnTo>
                    <a:pt x="160020" y="0"/>
                  </a:lnTo>
                  <a:lnTo>
                    <a:pt x="0" y="160020"/>
                  </a:lnTo>
                  <a:lnTo>
                    <a:pt x="0" y="977371"/>
                  </a:lnTo>
                  <a:lnTo>
                    <a:pt x="160020" y="1137391"/>
                  </a:lnTo>
                  <a:lnTo>
                    <a:pt x="1082271" y="1137391"/>
                  </a:lnTo>
                  <a:lnTo>
                    <a:pt x="1242291" y="977371"/>
                  </a:lnTo>
                  <a:lnTo>
                    <a:pt x="1242291" y="160020"/>
                  </a:lnTo>
                  <a:lnTo>
                    <a:pt x="1082271" y="0"/>
                  </a:lnTo>
                  <a:close/>
                </a:path>
              </a:pathLst>
            </a:custGeom>
            <a:ln w="9525" cap="sq">
              <a:solidFill>
                <a:srgbClr val="DEF0FF">
                  <a:alpha val="49804"/>
                </a:srgbClr>
              </a:solidFill>
              <a:prstDash val="solid"/>
              <a:miter/>
            </a:ln>
          </p:spPr>
        </p:sp>
        <p:sp>
          <p:nvSpPr>
            <p:cNvPr id="31" name="TextBox 31"/>
            <p:cNvSpPr txBox="1"/>
            <p:nvPr/>
          </p:nvSpPr>
          <p:spPr>
            <a:xfrm>
              <a:off x="63500" y="6350"/>
              <a:ext cx="1115291" cy="1067541"/>
            </a:xfrm>
            <a:prstGeom prst="rect">
              <a:avLst/>
            </a:prstGeom>
          </p:spPr>
          <p:txBody>
            <a:bodyPr lIns="50800" tIns="50800" rIns="50800" bIns="50800" rtlCol="0" anchor="ctr"/>
            <a:lstStyle/>
            <a:p>
              <a:pPr algn="ctr">
                <a:lnSpc>
                  <a:spcPts val="1960"/>
                </a:lnSpc>
              </a:pPr>
              <a:endParaRPr/>
            </a:p>
          </p:txBody>
        </p:sp>
      </p:grpSp>
      <p:grpSp>
        <p:nvGrpSpPr>
          <p:cNvPr id="32" name="Group 32"/>
          <p:cNvGrpSpPr/>
          <p:nvPr/>
        </p:nvGrpSpPr>
        <p:grpSpPr>
          <a:xfrm>
            <a:off x="15113479" y="4080568"/>
            <a:ext cx="2448133" cy="2241411"/>
            <a:chOff x="0" y="0"/>
            <a:chExt cx="1242291" cy="1137391"/>
          </a:xfrm>
        </p:grpSpPr>
        <p:sp>
          <p:nvSpPr>
            <p:cNvPr id="33" name="Freeform 33"/>
            <p:cNvSpPr/>
            <p:nvPr/>
          </p:nvSpPr>
          <p:spPr>
            <a:xfrm>
              <a:off x="0" y="0"/>
              <a:ext cx="1242291" cy="1137391"/>
            </a:xfrm>
            <a:custGeom>
              <a:avLst/>
              <a:gdLst/>
              <a:ahLst/>
              <a:cxnLst/>
              <a:rect l="l" t="t" r="r" b="b"/>
              <a:pathLst>
                <a:path w="1242291" h="1137391">
                  <a:moveTo>
                    <a:pt x="1082271" y="0"/>
                  </a:moveTo>
                  <a:lnTo>
                    <a:pt x="160020" y="0"/>
                  </a:lnTo>
                  <a:lnTo>
                    <a:pt x="0" y="160020"/>
                  </a:lnTo>
                  <a:lnTo>
                    <a:pt x="0" y="977371"/>
                  </a:lnTo>
                  <a:lnTo>
                    <a:pt x="160020" y="1137391"/>
                  </a:lnTo>
                  <a:lnTo>
                    <a:pt x="1082271" y="1137391"/>
                  </a:lnTo>
                  <a:lnTo>
                    <a:pt x="1242291" y="977371"/>
                  </a:lnTo>
                  <a:lnTo>
                    <a:pt x="1242291" y="160020"/>
                  </a:lnTo>
                  <a:lnTo>
                    <a:pt x="1082271" y="0"/>
                  </a:lnTo>
                  <a:close/>
                </a:path>
              </a:pathLst>
            </a:custGeom>
            <a:ln w="9525" cap="sq">
              <a:solidFill>
                <a:srgbClr val="DEF0FF">
                  <a:alpha val="49804"/>
                </a:srgbClr>
              </a:solidFill>
              <a:prstDash val="solid"/>
              <a:miter/>
            </a:ln>
          </p:spPr>
        </p:sp>
        <p:sp>
          <p:nvSpPr>
            <p:cNvPr id="34" name="TextBox 34"/>
            <p:cNvSpPr txBox="1"/>
            <p:nvPr/>
          </p:nvSpPr>
          <p:spPr>
            <a:xfrm>
              <a:off x="63500" y="6350"/>
              <a:ext cx="1115291" cy="1067541"/>
            </a:xfrm>
            <a:prstGeom prst="rect">
              <a:avLst/>
            </a:prstGeom>
          </p:spPr>
          <p:txBody>
            <a:bodyPr lIns="50800" tIns="50800" rIns="50800" bIns="50800" rtlCol="0" anchor="ctr"/>
            <a:lstStyle/>
            <a:p>
              <a:pPr algn="ctr">
                <a:lnSpc>
                  <a:spcPts val="1960"/>
                </a:lnSpc>
              </a:pPr>
              <a:endParaRPr/>
            </a:p>
          </p:txBody>
        </p:sp>
      </p:grpSp>
      <p:sp>
        <p:nvSpPr>
          <p:cNvPr id="35" name="Freeform 35"/>
          <p:cNvSpPr/>
          <p:nvPr/>
        </p:nvSpPr>
        <p:spPr>
          <a:xfrm>
            <a:off x="14174831" y="4851271"/>
            <a:ext cx="738622" cy="738622"/>
          </a:xfrm>
          <a:custGeom>
            <a:avLst/>
            <a:gdLst/>
            <a:ahLst/>
            <a:cxnLst/>
            <a:rect l="l" t="t" r="r" b="b"/>
            <a:pathLst>
              <a:path w="738622" h="738622">
                <a:moveTo>
                  <a:pt x="0" y="0"/>
                </a:moveTo>
                <a:lnTo>
                  <a:pt x="738623" y="0"/>
                </a:lnTo>
                <a:lnTo>
                  <a:pt x="738623" y="738622"/>
                </a:lnTo>
                <a:lnTo>
                  <a:pt x="0" y="73862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6" name="Freeform 36"/>
          <p:cNvSpPr/>
          <p:nvPr/>
        </p:nvSpPr>
        <p:spPr>
          <a:xfrm>
            <a:off x="10532622" y="4851271"/>
            <a:ext cx="738622" cy="738622"/>
          </a:xfrm>
          <a:custGeom>
            <a:avLst/>
            <a:gdLst/>
            <a:ahLst/>
            <a:cxnLst/>
            <a:rect l="l" t="t" r="r" b="b"/>
            <a:pathLst>
              <a:path w="738622" h="738622">
                <a:moveTo>
                  <a:pt x="0" y="0"/>
                </a:moveTo>
                <a:lnTo>
                  <a:pt x="738622" y="0"/>
                </a:lnTo>
                <a:lnTo>
                  <a:pt x="738622" y="738622"/>
                </a:lnTo>
                <a:lnTo>
                  <a:pt x="0" y="73862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7" name="TextBox 37"/>
          <p:cNvSpPr txBox="1"/>
          <p:nvPr/>
        </p:nvSpPr>
        <p:spPr>
          <a:xfrm>
            <a:off x="4026553" y="2141506"/>
            <a:ext cx="10192155" cy="1427996"/>
          </a:xfrm>
          <a:prstGeom prst="rect">
            <a:avLst/>
          </a:prstGeom>
        </p:spPr>
        <p:txBody>
          <a:bodyPr lIns="0" tIns="0" rIns="0" bIns="0" rtlCol="0" anchor="t">
            <a:spAutoFit/>
          </a:bodyPr>
          <a:lstStyle/>
          <a:p>
            <a:pPr algn="l">
              <a:lnSpc>
                <a:spcPts val="5324"/>
              </a:lnSpc>
            </a:pPr>
            <a:r>
              <a:rPr lang="en-US" sz="6338">
                <a:solidFill>
                  <a:srgbClr val="DEF0FF"/>
                </a:solidFill>
                <a:latin typeface="RQND Pro UltraWide"/>
                <a:ea typeface="RQND Pro UltraWide"/>
                <a:cs typeface="RQND Pro UltraWide"/>
                <a:sym typeface="RQND Pro UltraWide"/>
              </a:rPr>
              <a:t>Alur Penelitian di Google Colab</a:t>
            </a:r>
          </a:p>
        </p:txBody>
      </p:sp>
      <p:sp>
        <p:nvSpPr>
          <p:cNvPr id="38" name="TextBox 38"/>
          <p:cNvSpPr txBox="1"/>
          <p:nvPr/>
        </p:nvSpPr>
        <p:spPr>
          <a:xfrm>
            <a:off x="15742113" y="657054"/>
            <a:ext cx="813226" cy="269306"/>
          </a:xfrm>
          <a:prstGeom prst="rect">
            <a:avLst/>
          </a:prstGeom>
        </p:spPr>
        <p:txBody>
          <a:bodyPr lIns="0" tIns="0" rIns="0" bIns="0" rtlCol="0" anchor="t">
            <a:spAutoFit/>
          </a:bodyPr>
          <a:lstStyle/>
          <a:p>
            <a:pPr algn="ctr">
              <a:lnSpc>
                <a:spcPts val="1960"/>
              </a:lnSpc>
              <a:spcBef>
                <a:spcPct val="0"/>
              </a:spcBef>
            </a:pPr>
            <a:r>
              <a:rPr lang="en-US" sz="1400" spc="-56">
                <a:solidFill>
                  <a:srgbClr val="DEF0FF"/>
                </a:solidFill>
                <a:latin typeface="Telegraf"/>
                <a:ea typeface="Telegraf"/>
                <a:cs typeface="Telegraf"/>
                <a:sym typeface="Telegraf"/>
              </a:rPr>
              <a:t>Contact</a:t>
            </a:r>
          </a:p>
        </p:txBody>
      </p:sp>
      <p:sp>
        <p:nvSpPr>
          <p:cNvPr id="39" name="TextBox 39"/>
          <p:cNvSpPr txBox="1"/>
          <p:nvPr/>
        </p:nvSpPr>
        <p:spPr>
          <a:xfrm>
            <a:off x="6878436" y="657054"/>
            <a:ext cx="751945" cy="269240"/>
          </a:xfrm>
          <a:prstGeom prst="rect">
            <a:avLst/>
          </a:prstGeom>
        </p:spPr>
        <p:txBody>
          <a:bodyPr lIns="0" tIns="0" rIns="0" bIns="0" rtlCol="0" anchor="t">
            <a:spAutoFit/>
          </a:bodyPr>
          <a:lstStyle/>
          <a:p>
            <a:pPr algn="ctr">
              <a:lnSpc>
                <a:spcPts val="1960"/>
              </a:lnSpc>
              <a:spcBef>
                <a:spcPct val="0"/>
              </a:spcBef>
            </a:pPr>
            <a:r>
              <a:rPr lang="en-US" sz="1400" b="1" spc="-56">
                <a:solidFill>
                  <a:srgbClr val="DEF0FF"/>
                </a:solidFill>
                <a:latin typeface="Telegraf Bold"/>
                <a:ea typeface="Telegraf Bold"/>
                <a:cs typeface="Telegraf Bold"/>
                <a:sym typeface="Telegraf Bold"/>
              </a:rPr>
              <a:t>Home</a:t>
            </a:r>
          </a:p>
        </p:txBody>
      </p:sp>
      <p:sp>
        <p:nvSpPr>
          <p:cNvPr id="40" name="TextBox 40"/>
          <p:cNvSpPr txBox="1"/>
          <p:nvPr/>
        </p:nvSpPr>
        <p:spPr>
          <a:xfrm>
            <a:off x="7967106" y="657054"/>
            <a:ext cx="928073"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Services</a:t>
            </a:r>
          </a:p>
        </p:txBody>
      </p:sp>
      <p:sp>
        <p:nvSpPr>
          <p:cNvPr id="41" name="TextBox 41"/>
          <p:cNvSpPr txBox="1"/>
          <p:nvPr/>
        </p:nvSpPr>
        <p:spPr>
          <a:xfrm>
            <a:off x="10486033" y="657054"/>
            <a:ext cx="923532"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About Us</a:t>
            </a:r>
          </a:p>
        </p:txBody>
      </p:sp>
      <p:sp>
        <p:nvSpPr>
          <p:cNvPr id="42" name="TextBox 42"/>
          <p:cNvSpPr txBox="1"/>
          <p:nvPr/>
        </p:nvSpPr>
        <p:spPr>
          <a:xfrm>
            <a:off x="9231904" y="657054"/>
            <a:ext cx="917404"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Features</a:t>
            </a:r>
          </a:p>
        </p:txBody>
      </p:sp>
      <p:sp>
        <p:nvSpPr>
          <p:cNvPr id="43" name="TextBox 43"/>
          <p:cNvSpPr txBox="1"/>
          <p:nvPr/>
        </p:nvSpPr>
        <p:spPr>
          <a:xfrm>
            <a:off x="1036629" y="4469373"/>
            <a:ext cx="2135156" cy="1691640"/>
          </a:xfrm>
          <a:prstGeom prst="rect">
            <a:avLst/>
          </a:prstGeom>
        </p:spPr>
        <p:txBody>
          <a:bodyPr lIns="0" tIns="0" rIns="0" bIns="0" rtlCol="0" anchor="t">
            <a:spAutoFit/>
          </a:bodyPr>
          <a:lstStyle/>
          <a:p>
            <a:pPr algn="ctr">
              <a:lnSpc>
                <a:spcPts val="3359"/>
              </a:lnSpc>
            </a:pPr>
            <a:r>
              <a:rPr lang="en-US" sz="2400" b="1" spc="-96">
                <a:solidFill>
                  <a:srgbClr val="DEF0FF"/>
                </a:solidFill>
                <a:latin typeface="Telegraf Bold"/>
                <a:ea typeface="Telegraf Bold"/>
                <a:cs typeface="Telegraf Bold"/>
                <a:sym typeface="Telegraf Bold"/>
              </a:rPr>
              <a:t>Mount Drive,</a:t>
            </a:r>
          </a:p>
          <a:p>
            <a:pPr algn="ctr">
              <a:lnSpc>
                <a:spcPts val="3359"/>
              </a:lnSpc>
            </a:pPr>
            <a:r>
              <a:rPr lang="en-US" sz="2400" b="1" spc="-96">
                <a:solidFill>
                  <a:srgbClr val="DEF0FF"/>
                </a:solidFill>
                <a:latin typeface="Telegraf Bold"/>
                <a:ea typeface="Telegraf Bold"/>
                <a:cs typeface="Telegraf Bold"/>
                <a:sym typeface="Telegraf Bold"/>
              </a:rPr>
              <a:t>salin dataset ke disk lokal</a:t>
            </a:r>
          </a:p>
          <a:p>
            <a:pPr algn="ctr">
              <a:lnSpc>
                <a:spcPts val="3359"/>
              </a:lnSpc>
              <a:spcBef>
                <a:spcPct val="0"/>
              </a:spcBef>
            </a:pPr>
            <a:endParaRPr lang="en-US" sz="2400" b="1" spc="-96">
              <a:solidFill>
                <a:srgbClr val="DEF0FF"/>
              </a:solidFill>
              <a:latin typeface="Telegraf Bold"/>
              <a:ea typeface="Telegraf Bold"/>
              <a:cs typeface="Telegraf Bold"/>
              <a:sym typeface="Telegraf Bold"/>
            </a:endParaRPr>
          </a:p>
        </p:txBody>
      </p:sp>
      <p:sp>
        <p:nvSpPr>
          <p:cNvPr id="44" name="TextBox 44"/>
          <p:cNvSpPr txBox="1"/>
          <p:nvPr/>
        </p:nvSpPr>
        <p:spPr>
          <a:xfrm>
            <a:off x="845730" y="7351788"/>
            <a:ext cx="8028080" cy="1572895"/>
          </a:xfrm>
          <a:prstGeom prst="rect">
            <a:avLst/>
          </a:prstGeom>
        </p:spPr>
        <p:txBody>
          <a:bodyPr lIns="0" tIns="0" rIns="0" bIns="0" rtlCol="0" anchor="t">
            <a:spAutoFit/>
          </a:bodyPr>
          <a:lstStyle/>
          <a:p>
            <a:pPr marL="474979" lvl="1" indent="-237490" algn="l">
              <a:lnSpc>
                <a:spcPts val="3079"/>
              </a:lnSpc>
              <a:buFont typeface="Arial"/>
              <a:buChar char="•"/>
            </a:pPr>
            <a:r>
              <a:rPr lang="en-US" sz="2199" b="1" spc="-87">
                <a:solidFill>
                  <a:srgbClr val="DEF0FF"/>
                </a:solidFill>
                <a:latin typeface="Telegraf Bold"/>
                <a:ea typeface="Telegraf Bold"/>
                <a:cs typeface="Telegraf Bold"/>
                <a:sym typeface="Telegraf Bold"/>
              </a:rPr>
              <a:t>Library : TensorFlow/Keras, scikit-learn, matplotlib, seaborn</a:t>
            </a:r>
          </a:p>
          <a:p>
            <a:pPr marL="474979" lvl="1" indent="-237490" algn="l">
              <a:lnSpc>
                <a:spcPts val="3079"/>
              </a:lnSpc>
              <a:buFont typeface="Arial"/>
              <a:buChar char="•"/>
            </a:pPr>
            <a:r>
              <a:rPr lang="en-US" sz="2199" b="1" spc="-87">
                <a:solidFill>
                  <a:srgbClr val="DEF0FF"/>
                </a:solidFill>
                <a:latin typeface="Telegraf Bold"/>
                <a:ea typeface="Telegraf Bold"/>
                <a:cs typeface="Telegraf Bold"/>
                <a:sym typeface="Telegraf Bold"/>
              </a:rPr>
              <a:t>Pipeline tf.data dengan .cache() sebelum shuffle dan batch</a:t>
            </a:r>
          </a:p>
          <a:p>
            <a:pPr marL="474979" lvl="1" indent="-237490" algn="l">
              <a:lnSpc>
                <a:spcPts val="3079"/>
              </a:lnSpc>
              <a:spcBef>
                <a:spcPct val="0"/>
              </a:spcBef>
              <a:buFont typeface="Arial"/>
              <a:buChar char="•"/>
            </a:pPr>
            <a:r>
              <a:rPr lang="en-US" sz="2199" b="1" spc="-87">
                <a:solidFill>
                  <a:srgbClr val="DEF0FF"/>
                </a:solidFill>
                <a:latin typeface="Telegraf Bold"/>
                <a:ea typeface="Telegraf Bold"/>
                <a:cs typeface="Telegraf Bold"/>
                <a:sym typeface="Telegraf Bold"/>
              </a:rPr>
              <a:t>Model terbaik dipilih otomatis dari val_loss, disimpan sebagai .keras ke Google Drive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grpSp>
        <p:nvGrpSpPr>
          <p:cNvPr id="3" name="Group 3"/>
          <p:cNvGrpSpPr/>
          <p:nvPr/>
        </p:nvGrpSpPr>
        <p:grpSpPr>
          <a:xfrm>
            <a:off x="493437" y="3231858"/>
            <a:ext cx="8924595" cy="6378598"/>
            <a:chOff x="0" y="0"/>
            <a:chExt cx="3186816" cy="2277685"/>
          </a:xfrm>
        </p:grpSpPr>
        <p:sp>
          <p:nvSpPr>
            <p:cNvPr id="4" name="Freeform 4"/>
            <p:cNvSpPr/>
            <p:nvPr/>
          </p:nvSpPr>
          <p:spPr>
            <a:xfrm>
              <a:off x="0" y="0"/>
              <a:ext cx="3186816" cy="2277685"/>
            </a:xfrm>
            <a:custGeom>
              <a:avLst/>
              <a:gdLst/>
              <a:ahLst/>
              <a:cxnLst/>
              <a:rect l="l" t="t" r="r" b="b"/>
              <a:pathLst>
                <a:path w="3186816" h="2277685">
                  <a:moveTo>
                    <a:pt x="3026796" y="0"/>
                  </a:moveTo>
                  <a:lnTo>
                    <a:pt x="160020" y="0"/>
                  </a:lnTo>
                  <a:lnTo>
                    <a:pt x="0" y="160020"/>
                  </a:lnTo>
                  <a:lnTo>
                    <a:pt x="0" y="2117665"/>
                  </a:lnTo>
                  <a:lnTo>
                    <a:pt x="160020" y="2277685"/>
                  </a:lnTo>
                  <a:lnTo>
                    <a:pt x="3026796" y="2277685"/>
                  </a:lnTo>
                  <a:lnTo>
                    <a:pt x="3186816" y="2117665"/>
                  </a:lnTo>
                  <a:lnTo>
                    <a:pt x="3186816" y="160020"/>
                  </a:lnTo>
                  <a:lnTo>
                    <a:pt x="3026796" y="0"/>
                  </a:lnTo>
                  <a:close/>
                </a:path>
              </a:pathLst>
            </a:custGeom>
            <a:ln w="9525" cap="sq">
              <a:solidFill>
                <a:srgbClr val="DEF0FF">
                  <a:alpha val="49804"/>
                </a:srgbClr>
              </a:solidFill>
              <a:prstDash val="solid"/>
              <a:miter/>
            </a:ln>
          </p:spPr>
        </p:sp>
        <p:sp>
          <p:nvSpPr>
            <p:cNvPr id="5" name="TextBox 5"/>
            <p:cNvSpPr txBox="1"/>
            <p:nvPr/>
          </p:nvSpPr>
          <p:spPr>
            <a:xfrm>
              <a:off x="63500" y="6350"/>
              <a:ext cx="3059816" cy="2207835"/>
            </a:xfrm>
            <a:prstGeom prst="rect">
              <a:avLst/>
            </a:prstGeom>
          </p:spPr>
          <p:txBody>
            <a:bodyPr lIns="50800" tIns="50800" rIns="50800" bIns="50800" rtlCol="0" anchor="ctr"/>
            <a:lstStyle/>
            <a:p>
              <a:pPr algn="ctr">
                <a:lnSpc>
                  <a:spcPts val="1960"/>
                </a:lnSpc>
              </a:pPr>
              <a:endParaRPr/>
            </a:p>
          </p:txBody>
        </p:sp>
      </p:grpSp>
      <p:grpSp>
        <p:nvGrpSpPr>
          <p:cNvPr id="6" name="Group 6"/>
          <p:cNvGrpSpPr/>
          <p:nvPr/>
        </p:nvGrpSpPr>
        <p:grpSpPr>
          <a:xfrm>
            <a:off x="9790968" y="3231858"/>
            <a:ext cx="7646945" cy="6362761"/>
            <a:chOff x="0" y="0"/>
            <a:chExt cx="2730590" cy="2272030"/>
          </a:xfrm>
        </p:grpSpPr>
        <p:sp>
          <p:nvSpPr>
            <p:cNvPr id="7" name="Freeform 7"/>
            <p:cNvSpPr/>
            <p:nvPr/>
          </p:nvSpPr>
          <p:spPr>
            <a:xfrm>
              <a:off x="0" y="0"/>
              <a:ext cx="2730590" cy="2272030"/>
            </a:xfrm>
            <a:custGeom>
              <a:avLst/>
              <a:gdLst/>
              <a:ahLst/>
              <a:cxnLst/>
              <a:rect l="l" t="t" r="r" b="b"/>
              <a:pathLst>
                <a:path w="2730590" h="2272030">
                  <a:moveTo>
                    <a:pt x="2570570" y="0"/>
                  </a:moveTo>
                  <a:lnTo>
                    <a:pt x="160020" y="0"/>
                  </a:lnTo>
                  <a:lnTo>
                    <a:pt x="0" y="160020"/>
                  </a:lnTo>
                  <a:lnTo>
                    <a:pt x="0" y="2112010"/>
                  </a:lnTo>
                  <a:lnTo>
                    <a:pt x="160020" y="2272030"/>
                  </a:lnTo>
                  <a:lnTo>
                    <a:pt x="2570570" y="2272030"/>
                  </a:lnTo>
                  <a:lnTo>
                    <a:pt x="2730590" y="2112010"/>
                  </a:lnTo>
                  <a:lnTo>
                    <a:pt x="2730590" y="160020"/>
                  </a:lnTo>
                  <a:lnTo>
                    <a:pt x="2570570" y="0"/>
                  </a:lnTo>
                  <a:close/>
                </a:path>
              </a:pathLst>
            </a:custGeom>
            <a:ln w="9525" cap="sq">
              <a:solidFill>
                <a:srgbClr val="DEF0FF">
                  <a:alpha val="49804"/>
                </a:srgbClr>
              </a:solidFill>
              <a:prstDash val="solid"/>
              <a:miter/>
            </a:ln>
          </p:spPr>
        </p:sp>
        <p:sp>
          <p:nvSpPr>
            <p:cNvPr id="8" name="TextBox 8"/>
            <p:cNvSpPr txBox="1"/>
            <p:nvPr/>
          </p:nvSpPr>
          <p:spPr>
            <a:xfrm>
              <a:off x="63500" y="6350"/>
              <a:ext cx="2603590" cy="2202180"/>
            </a:xfrm>
            <a:prstGeom prst="rect">
              <a:avLst/>
            </a:prstGeom>
          </p:spPr>
          <p:txBody>
            <a:bodyPr lIns="50800" tIns="50800" rIns="50800" bIns="50800" rtlCol="0" anchor="ctr"/>
            <a:lstStyle/>
            <a:p>
              <a:pPr algn="ctr">
                <a:lnSpc>
                  <a:spcPts val="1960"/>
                </a:lnSpc>
              </a:pPr>
              <a:endParaRPr/>
            </a:p>
          </p:txBody>
        </p:sp>
      </p:grpSp>
      <p:grpSp>
        <p:nvGrpSpPr>
          <p:cNvPr id="9" name="Group 9"/>
          <p:cNvGrpSpPr/>
          <p:nvPr/>
        </p:nvGrpSpPr>
        <p:grpSpPr>
          <a:xfrm>
            <a:off x="1028700" y="611864"/>
            <a:ext cx="2704510" cy="416836"/>
            <a:chOff x="0" y="0"/>
            <a:chExt cx="712299" cy="109784"/>
          </a:xfrm>
        </p:grpSpPr>
        <p:sp>
          <p:nvSpPr>
            <p:cNvPr id="10" name="Freeform 10"/>
            <p:cNvSpPr/>
            <p:nvPr/>
          </p:nvSpPr>
          <p:spPr>
            <a:xfrm>
              <a:off x="0" y="0"/>
              <a:ext cx="712299" cy="109784"/>
            </a:xfrm>
            <a:custGeom>
              <a:avLst/>
              <a:gdLst/>
              <a:ahLst/>
              <a:cxnLst/>
              <a:rect l="l" t="t" r="r" b="b"/>
              <a:pathLst>
                <a:path w="712299" h="109784">
                  <a:moveTo>
                    <a:pt x="54892" y="0"/>
                  </a:moveTo>
                  <a:lnTo>
                    <a:pt x="657407" y="0"/>
                  </a:lnTo>
                  <a:cubicBezTo>
                    <a:pt x="671965" y="0"/>
                    <a:pt x="685927" y="5783"/>
                    <a:pt x="696221" y="16077"/>
                  </a:cubicBezTo>
                  <a:cubicBezTo>
                    <a:pt x="706516" y="26372"/>
                    <a:pt x="712299" y="40334"/>
                    <a:pt x="712299" y="54892"/>
                  </a:cubicBezTo>
                  <a:lnTo>
                    <a:pt x="712299" y="54892"/>
                  </a:lnTo>
                  <a:cubicBezTo>
                    <a:pt x="712299" y="85208"/>
                    <a:pt x="687723" y="109784"/>
                    <a:pt x="657407"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ln w="9525" cap="rnd">
              <a:solidFill>
                <a:srgbClr val="FFFFFF">
                  <a:alpha val="49804"/>
                </a:srgbClr>
              </a:solidFill>
              <a:prstDash val="solid"/>
              <a:round/>
            </a:ln>
          </p:spPr>
        </p:sp>
        <p:sp>
          <p:nvSpPr>
            <p:cNvPr id="11" name="TextBox 11"/>
            <p:cNvSpPr txBox="1"/>
            <p:nvPr/>
          </p:nvSpPr>
          <p:spPr>
            <a:xfrm>
              <a:off x="0" y="-38100"/>
              <a:ext cx="712299" cy="147884"/>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15558984" y="611864"/>
            <a:ext cx="1179483" cy="416836"/>
            <a:chOff x="0" y="0"/>
            <a:chExt cx="310646" cy="109784"/>
          </a:xfrm>
        </p:grpSpPr>
        <p:sp>
          <p:nvSpPr>
            <p:cNvPr id="13" name="Freeform 13"/>
            <p:cNvSpPr/>
            <p:nvPr/>
          </p:nvSpPr>
          <p:spPr>
            <a:xfrm>
              <a:off x="0" y="0"/>
              <a:ext cx="310646" cy="109784"/>
            </a:xfrm>
            <a:custGeom>
              <a:avLst/>
              <a:gdLst/>
              <a:ahLst/>
              <a:cxnLst/>
              <a:rect l="l" t="t" r="r" b="b"/>
              <a:pathLst>
                <a:path w="310646" h="109784">
                  <a:moveTo>
                    <a:pt x="54892" y="0"/>
                  </a:moveTo>
                  <a:lnTo>
                    <a:pt x="255754" y="0"/>
                  </a:lnTo>
                  <a:cubicBezTo>
                    <a:pt x="286070" y="0"/>
                    <a:pt x="310646" y="24576"/>
                    <a:pt x="310646" y="54892"/>
                  </a:cubicBezTo>
                  <a:lnTo>
                    <a:pt x="310646" y="54892"/>
                  </a:lnTo>
                  <a:cubicBezTo>
                    <a:pt x="310646" y="69450"/>
                    <a:pt x="304862" y="83412"/>
                    <a:pt x="294568" y="93706"/>
                  </a:cubicBezTo>
                  <a:cubicBezTo>
                    <a:pt x="284274" y="104001"/>
                    <a:pt x="270312" y="109784"/>
                    <a:pt x="255754"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ln w="9525" cap="rnd">
              <a:solidFill>
                <a:srgbClr val="FFFFFF">
                  <a:alpha val="49804"/>
                </a:srgbClr>
              </a:solidFill>
              <a:prstDash val="solid"/>
              <a:round/>
            </a:ln>
          </p:spPr>
        </p:sp>
        <p:sp>
          <p:nvSpPr>
            <p:cNvPr id="14" name="TextBox 14"/>
            <p:cNvSpPr txBox="1"/>
            <p:nvPr/>
          </p:nvSpPr>
          <p:spPr>
            <a:xfrm>
              <a:off x="0" y="-38100"/>
              <a:ext cx="310646" cy="14788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5" name="Group 15"/>
          <p:cNvGrpSpPr/>
          <p:nvPr/>
        </p:nvGrpSpPr>
        <p:grpSpPr>
          <a:xfrm>
            <a:off x="16842464" y="611864"/>
            <a:ext cx="416836" cy="416836"/>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ln w="9525" cap="rnd">
              <a:solidFill>
                <a:srgbClr val="FFFFFF">
                  <a:alpha val="49804"/>
                </a:srgbClr>
              </a:solidFill>
              <a:prstDash val="solid"/>
              <a:round/>
            </a:ln>
          </p:spPr>
        </p:sp>
        <p:sp>
          <p:nvSpPr>
            <p:cNvPr id="17" name="TextBox 17"/>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8" name="Freeform 18"/>
          <p:cNvSpPr/>
          <p:nvPr/>
        </p:nvSpPr>
        <p:spPr>
          <a:xfrm>
            <a:off x="16954260" y="755908"/>
            <a:ext cx="193244" cy="128749"/>
          </a:xfrm>
          <a:custGeom>
            <a:avLst/>
            <a:gdLst/>
            <a:ahLst/>
            <a:cxnLst/>
            <a:rect l="l" t="t" r="r" b="b"/>
            <a:pathLst>
              <a:path w="193244" h="128749">
                <a:moveTo>
                  <a:pt x="0" y="0"/>
                </a:moveTo>
                <a:lnTo>
                  <a:pt x="193244" y="0"/>
                </a:lnTo>
                <a:lnTo>
                  <a:pt x="193244" y="128749"/>
                </a:lnTo>
                <a:lnTo>
                  <a:pt x="0" y="1287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9" name="Freeform 19"/>
          <p:cNvSpPr/>
          <p:nvPr/>
        </p:nvSpPr>
        <p:spPr>
          <a:xfrm>
            <a:off x="3386715" y="735023"/>
            <a:ext cx="170453" cy="170453"/>
          </a:xfrm>
          <a:custGeom>
            <a:avLst/>
            <a:gdLst/>
            <a:ahLst/>
            <a:cxnLst/>
            <a:rect l="l" t="t" r="r" b="b"/>
            <a:pathLst>
              <a:path w="170453" h="170453">
                <a:moveTo>
                  <a:pt x="0" y="0"/>
                </a:moveTo>
                <a:lnTo>
                  <a:pt x="170453" y="0"/>
                </a:lnTo>
                <a:lnTo>
                  <a:pt x="170453" y="170452"/>
                </a:lnTo>
                <a:lnTo>
                  <a:pt x="0" y="17045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0" name="Freeform 20"/>
          <p:cNvSpPr/>
          <p:nvPr/>
        </p:nvSpPr>
        <p:spPr>
          <a:xfrm>
            <a:off x="741840" y="4290859"/>
            <a:ext cx="8427790" cy="4260596"/>
          </a:xfrm>
          <a:custGeom>
            <a:avLst/>
            <a:gdLst/>
            <a:ahLst/>
            <a:cxnLst/>
            <a:rect l="l" t="t" r="r" b="b"/>
            <a:pathLst>
              <a:path w="8427790" h="4260596">
                <a:moveTo>
                  <a:pt x="0" y="0"/>
                </a:moveTo>
                <a:lnTo>
                  <a:pt x="8427790" y="0"/>
                </a:lnTo>
                <a:lnTo>
                  <a:pt x="8427790" y="4260596"/>
                </a:lnTo>
                <a:lnTo>
                  <a:pt x="0" y="4260596"/>
                </a:lnTo>
                <a:lnTo>
                  <a:pt x="0" y="0"/>
                </a:lnTo>
                <a:close/>
              </a:path>
            </a:pathLst>
          </a:custGeom>
          <a:blipFill>
            <a:blip r:embed="rId7"/>
            <a:stretch>
              <a:fillRect/>
            </a:stretch>
          </a:blipFill>
        </p:spPr>
      </p:sp>
      <p:sp>
        <p:nvSpPr>
          <p:cNvPr id="21" name="Freeform 21"/>
          <p:cNvSpPr/>
          <p:nvPr/>
        </p:nvSpPr>
        <p:spPr>
          <a:xfrm>
            <a:off x="10048922" y="7714608"/>
            <a:ext cx="7127172" cy="968366"/>
          </a:xfrm>
          <a:custGeom>
            <a:avLst/>
            <a:gdLst/>
            <a:ahLst/>
            <a:cxnLst/>
            <a:rect l="l" t="t" r="r" b="b"/>
            <a:pathLst>
              <a:path w="7127172" h="968366">
                <a:moveTo>
                  <a:pt x="0" y="0"/>
                </a:moveTo>
                <a:lnTo>
                  <a:pt x="7127172" y="0"/>
                </a:lnTo>
                <a:lnTo>
                  <a:pt x="7127172" y="968365"/>
                </a:lnTo>
                <a:lnTo>
                  <a:pt x="0" y="968365"/>
                </a:lnTo>
                <a:lnTo>
                  <a:pt x="0" y="0"/>
                </a:lnTo>
                <a:close/>
              </a:path>
            </a:pathLst>
          </a:custGeom>
          <a:blipFill>
            <a:blip r:embed="rId8"/>
            <a:stretch>
              <a:fillRect/>
            </a:stretch>
          </a:blipFill>
        </p:spPr>
      </p:sp>
      <p:sp>
        <p:nvSpPr>
          <p:cNvPr id="22" name="TextBox 22"/>
          <p:cNvSpPr txBox="1"/>
          <p:nvPr/>
        </p:nvSpPr>
        <p:spPr>
          <a:xfrm>
            <a:off x="3713646" y="1519758"/>
            <a:ext cx="10363065" cy="1442187"/>
          </a:xfrm>
          <a:prstGeom prst="rect">
            <a:avLst/>
          </a:prstGeom>
        </p:spPr>
        <p:txBody>
          <a:bodyPr lIns="0" tIns="0" rIns="0" bIns="0" rtlCol="0" anchor="t">
            <a:spAutoFit/>
          </a:bodyPr>
          <a:lstStyle/>
          <a:p>
            <a:pPr algn="l">
              <a:lnSpc>
                <a:spcPts val="5370"/>
              </a:lnSpc>
            </a:pPr>
            <a:r>
              <a:rPr lang="en-US" sz="6393">
                <a:solidFill>
                  <a:srgbClr val="DEF0FF"/>
                </a:solidFill>
                <a:latin typeface="RQND Pro UltraWide"/>
                <a:ea typeface="RQND Pro UltraWide"/>
                <a:cs typeface="RQND Pro UltraWide"/>
                <a:sym typeface="RQND Pro UltraWide"/>
              </a:rPr>
              <a:t>Preprocessing dan Pembersihan Data</a:t>
            </a:r>
          </a:p>
        </p:txBody>
      </p:sp>
      <p:sp>
        <p:nvSpPr>
          <p:cNvPr id="23" name="TextBox 23"/>
          <p:cNvSpPr txBox="1"/>
          <p:nvPr/>
        </p:nvSpPr>
        <p:spPr>
          <a:xfrm>
            <a:off x="10048922" y="3526783"/>
            <a:ext cx="7131037" cy="3902075"/>
          </a:xfrm>
          <a:prstGeom prst="rect">
            <a:avLst/>
          </a:prstGeom>
        </p:spPr>
        <p:txBody>
          <a:bodyPr lIns="0" tIns="0" rIns="0" bIns="0" rtlCol="0" anchor="t">
            <a:spAutoFit/>
          </a:bodyPr>
          <a:lstStyle/>
          <a:p>
            <a:pPr marL="431801" lvl="1" indent="-215900" algn="l">
              <a:lnSpc>
                <a:spcPts val="2800"/>
              </a:lnSpc>
              <a:buFont typeface="Arial"/>
              <a:buChar char="•"/>
            </a:pPr>
            <a:r>
              <a:rPr lang="en-US" sz="2000" spc="-80">
                <a:solidFill>
                  <a:srgbClr val="DEF0FF"/>
                </a:solidFill>
                <a:latin typeface="Telegraf"/>
                <a:ea typeface="Telegraf"/>
                <a:cs typeface="Telegraf"/>
                <a:sym typeface="Telegraf"/>
              </a:rPr>
              <a:t>Ukuran input 224×224, batch 32, nilai piksel disimpan uint8</a:t>
            </a:r>
          </a:p>
          <a:p>
            <a:pPr marL="431801" lvl="1" indent="-215900" algn="l">
              <a:lnSpc>
                <a:spcPts val="2800"/>
              </a:lnSpc>
              <a:buFont typeface="Arial"/>
              <a:buChar char="•"/>
            </a:pPr>
            <a:r>
              <a:rPr lang="en-US" sz="2000" spc="-80">
                <a:solidFill>
                  <a:srgbClr val="DEF0FF"/>
                </a:solidFill>
                <a:latin typeface="Telegraf"/>
                <a:ea typeface="Telegraf"/>
                <a:cs typeface="Telegraf"/>
                <a:sym typeface="Telegraf"/>
              </a:rPr>
              <a:t>Awal: resize_with_crop_or_pad memotong tengah gambar, hanya &lt;1% karena foto terlihat sering hanya tembok background nya</a:t>
            </a:r>
          </a:p>
          <a:p>
            <a:pPr marL="431801" lvl="1" indent="-215900" algn="l">
              <a:lnSpc>
                <a:spcPts val="2800"/>
              </a:lnSpc>
              <a:buFont typeface="Arial"/>
              <a:buChar char="•"/>
            </a:pPr>
            <a:r>
              <a:rPr lang="en-US" sz="2000" spc="-80">
                <a:solidFill>
                  <a:srgbClr val="DEF0FF"/>
                </a:solidFill>
                <a:latin typeface="Telegraf"/>
                <a:ea typeface="Telegraf"/>
                <a:cs typeface="Telegraf"/>
                <a:sym typeface="Telegraf"/>
              </a:rPr>
              <a:t>Perbaikan: resize_with_pad dengan antialias, seluruh daun terlihat (ada padding hitam)</a:t>
            </a:r>
          </a:p>
          <a:p>
            <a:pPr marL="431801" lvl="1" indent="-215900" algn="l">
              <a:lnSpc>
                <a:spcPts val="2800"/>
              </a:lnSpc>
              <a:buFont typeface="Arial"/>
              <a:buChar char="•"/>
            </a:pPr>
            <a:r>
              <a:rPr lang="en-US" sz="2000" spc="-80">
                <a:solidFill>
                  <a:srgbClr val="DEF0FF"/>
                </a:solidFill>
                <a:latin typeface="Telegraf"/>
                <a:ea typeface="Telegraf"/>
                <a:cs typeface="Telegraf"/>
                <a:sym typeface="Telegraf"/>
              </a:rPr>
              <a:t>Near-duplicate: jarak thumbnail abu-abu 32×32, ambang 0,10; test 228→222, val 227→217</a:t>
            </a:r>
          </a:p>
          <a:p>
            <a:pPr marL="431801" lvl="1" indent="-215900" algn="l">
              <a:lnSpc>
                <a:spcPts val="2800"/>
              </a:lnSpc>
              <a:spcBef>
                <a:spcPct val="0"/>
              </a:spcBef>
              <a:buFont typeface="Arial"/>
              <a:buChar char="•"/>
            </a:pPr>
            <a:r>
              <a:rPr lang="en-US" sz="2000" spc="-80">
                <a:solidFill>
                  <a:srgbClr val="DEF0FF"/>
                </a:solidFill>
                <a:latin typeface="Telegraf"/>
                <a:ea typeface="Telegraf"/>
                <a:cs typeface="Telegraf"/>
                <a:sym typeface="Telegraf"/>
              </a:rPr>
              <a:t>Pembagian data: Holdout stratified split 70:15:15 (random_state=42), dilakukan dua tahap sehingga proporsi keempat kelas terjaga di data train, validation, dan test.</a:t>
            </a:r>
          </a:p>
        </p:txBody>
      </p:sp>
      <p:sp>
        <p:nvSpPr>
          <p:cNvPr id="24" name="TextBox 24"/>
          <p:cNvSpPr txBox="1"/>
          <p:nvPr/>
        </p:nvSpPr>
        <p:spPr>
          <a:xfrm>
            <a:off x="15742113" y="657054"/>
            <a:ext cx="813226" cy="269306"/>
          </a:xfrm>
          <a:prstGeom prst="rect">
            <a:avLst/>
          </a:prstGeom>
        </p:spPr>
        <p:txBody>
          <a:bodyPr lIns="0" tIns="0" rIns="0" bIns="0" rtlCol="0" anchor="t">
            <a:spAutoFit/>
          </a:bodyPr>
          <a:lstStyle/>
          <a:p>
            <a:pPr algn="ctr">
              <a:lnSpc>
                <a:spcPts val="1960"/>
              </a:lnSpc>
              <a:spcBef>
                <a:spcPct val="0"/>
              </a:spcBef>
            </a:pPr>
            <a:r>
              <a:rPr lang="en-US" sz="1400" spc="-56">
                <a:solidFill>
                  <a:srgbClr val="DEF0FF"/>
                </a:solidFill>
                <a:latin typeface="Telegraf"/>
                <a:ea typeface="Telegraf"/>
                <a:cs typeface="Telegraf"/>
                <a:sym typeface="Telegraf"/>
              </a:rPr>
              <a:t>Contact</a:t>
            </a:r>
          </a:p>
        </p:txBody>
      </p:sp>
      <p:sp>
        <p:nvSpPr>
          <p:cNvPr id="25" name="TextBox 25"/>
          <p:cNvSpPr txBox="1"/>
          <p:nvPr/>
        </p:nvSpPr>
        <p:spPr>
          <a:xfrm>
            <a:off x="6878436" y="657054"/>
            <a:ext cx="751945" cy="269240"/>
          </a:xfrm>
          <a:prstGeom prst="rect">
            <a:avLst/>
          </a:prstGeom>
        </p:spPr>
        <p:txBody>
          <a:bodyPr lIns="0" tIns="0" rIns="0" bIns="0" rtlCol="0" anchor="t">
            <a:spAutoFit/>
          </a:bodyPr>
          <a:lstStyle/>
          <a:p>
            <a:pPr algn="ctr">
              <a:lnSpc>
                <a:spcPts val="1960"/>
              </a:lnSpc>
              <a:spcBef>
                <a:spcPct val="0"/>
              </a:spcBef>
            </a:pPr>
            <a:r>
              <a:rPr lang="en-US" sz="1400" b="1" spc="-56">
                <a:solidFill>
                  <a:srgbClr val="DEF0FF"/>
                </a:solidFill>
                <a:latin typeface="Telegraf Bold"/>
                <a:ea typeface="Telegraf Bold"/>
                <a:cs typeface="Telegraf Bold"/>
                <a:sym typeface="Telegraf Bold"/>
              </a:rPr>
              <a:t>Home</a:t>
            </a:r>
          </a:p>
        </p:txBody>
      </p:sp>
      <p:sp>
        <p:nvSpPr>
          <p:cNvPr id="26" name="TextBox 26"/>
          <p:cNvSpPr txBox="1"/>
          <p:nvPr/>
        </p:nvSpPr>
        <p:spPr>
          <a:xfrm>
            <a:off x="7967106" y="657054"/>
            <a:ext cx="928073"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Services</a:t>
            </a:r>
          </a:p>
        </p:txBody>
      </p:sp>
      <p:sp>
        <p:nvSpPr>
          <p:cNvPr id="27" name="TextBox 27"/>
          <p:cNvSpPr txBox="1"/>
          <p:nvPr/>
        </p:nvSpPr>
        <p:spPr>
          <a:xfrm>
            <a:off x="10486033" y="657054"/>
            <a:ext cx="923532"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About Us</a:t>
            </a:r>
          </a:p>
        </p:txBody>
      </p:sp>
      <p:sp>
        <p:nvSpPr>
          <p:cNvPr id="28" name="TextBox 28"/>
          <p:cNvSpPr txBox="1"/>
          <p:nvPr/>
        </p:nvSpPr>
        <p:spPr>
          <a:xfrm>
            <a:off x="9231904" y="657054"/>
            <a:ext cx="917404"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Features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grpSp>
        <p:nvGrpSpPr>
          <p:cNvPr id="3" name="Group 3"/>
          <p:cNvGrpSpPr/>
          <p:nvPr/>
        </p:nvGrpSpPr>
        <p:grpSpPr>
          <a:xfrm>
            <a:off x="1028700" y="611864"/>
            <a:ext cx="2704510" cy="416836"/>
            <a:chOff x="0" y="0"/>
            <a:chExt cx="712299" cy="109784"/>
          </a:xfrm>
        </p:grpSpPr>
        <p:sp>
          <p:nvSpPr>
            <p:cNvPr id="4" name="Freeform 4"/>
            <p:cNvSpPr/>
            <p:nvPr/>
          </p:nvSpPr>
          <p:spPr>
            <a:xfrm>
              <a:off x="0" y="0"/>
              <a:ext cx="712299" cy="109784"/>
            </a:xfrm>
            <a:custGeom>
              <a:avLst/>
              <a:gdLst/>
              <a:ahLst/>
              <a:cxnLst/>
              <a:rect l="l" t="t" r="r" b="b"/>
              <a:pathLst>
                <a:path w="712299" h="109784">
                  <a:moveTo>
                    <a:pt x="54892" y="0"/>
                  </a:moveTo>
                  <a:lnTo>
                    <a:pt x="657407" y="0"/>
                  </a:lnTo>
                  <a:cubicBezTo>
                    <a:pt x="671965" y="0"/>
                    <a:pt x="685927" y="5783"/>
                    <a:pt x="696221" y="16077"/>
                  </a:cubicBezTo>
                  <a:cubicBezTo>
                    <a:pt x="706516" y="26372"/>
                    <a:pt x="712299" y="40334"/>
                    <a:pt x="712299" y="54892"/>
                  </a:cubicBezTo>
                  <a:lnTo>
                    <a:pt x="712299" y="54892"/>
                  </a:lnTo>
                  <a:cubicBezTo>
                    <a:pt x="712299" y="85208"/>
                    <a:pt x="687723" y="109784"/>
                    <a:pt x="657407"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ln w="9525" cap="rnd">
              <a:solidFill>
                <a:srgbClr val="FFFFFF">
                  <a:alpha val="49804"/>
                </a:srgbClr>
              </a:solidFill>
              <a:prstDash val="solid"/>
              <a:round/>
            </a:ln>
          </p:spPr>
        </p:sp>
        <p:sp>
          <p:nvSpPr>
            <p:cNvPr id="5" name="TextBox 5"/>
            <p:cNvSpPr txBox="1"/>
            <p:nvPr/>
          </p:nvSpPr>
          <p:spPr>
            <a:xfrm>
              <a:off x="0" y="-38100"/>
              <a:ext cx="712299" cy="147884"/>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5558984" y="611864"/>
            <a:ext cx="1179483" cy="416836"/>
            <a:chOff x="0" y="0"/>
            <a:chExt cx="310646" cy="109784"/>
          </a:xfrm>
        </p:grpSpPr>
        <p:sp>
          <p:nvSpPr>
            <p:cNvPr id="7" name="Freeform 7"/>
            <p:cNvSpPr/>
            <p:nvPr/>
          </p:nvSpPr>
          <p:spPr>
            <a:xfrm>
              <a:off x="0" y="0"/>
              <a:ext cx="310646" cy="109784"/>
            </a:xfrm>
            <a:custGeom>
              <a:avLst/>
              <a:gdLst/>
              <a:ahLst/>
              <a:cxnLst/>
              <a:rect l="l" t="t" r="r" b="b"/>
              <a:pathLst>
                <a:path w="310646" h="109784">
                  <a:moveTo>
                    <a:pt x="54892" y="0"/>
                  </a:moveTo>
                  <a:lnTo>
                    <a:pt x="255754" y="0"/>
                  </a:lnTo>
                  <a:cubicBezTo>
                    <a:pt x="286070" y="0"/>
                    <a:pt x="310646" y="24576"/>
                    <a:pt x="310646" y="54892"/>
                  </a:cubicBezTo>
                  <a:lnTo>
                    <a:pt x="310646" y="54892"/>
                  </a:lnTo>
                  <a:cubicBezTo>
                    <a:pt x="310646" y="69450"/>
                    <a:pt x="304862" y="83412"/>
                    <a:pt x="294568" y="93706"/>
                  </a:cubicBezTo>
                  <a:cubicBezTo>
                    <a:pt x="284274" y="104001"/>
                    <a:pt x="270312" y="109784"/>
                    <a:pt x="255754"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ln w="9525" cap="rnd">
              <a:solidFill>
                <a:srgbClr val="FFFFFF">
                  <a:alpha val="49804"/>
                </a:srgbClr>
              </a:solidFill>
              <a:prstDash val="solid"/>
              <a:round/>
            </a:ln>
          </p:spPr>
        </p:sp>
        <p:sp>
          <p:nvSpPr>
            <p:cNvPr id="8" name="TextBox 8"/>
            <p:cNvSpPr txBox="1"/>
            <p:nvPr/>
          </p:nvSpPr>
          <p:spPr>
            <a:xfrm>
              <a:off x="0" y="-38100"/>
              <a:ext cx="310646" cy="14788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16842464" y="611864"/>
            <a:ext cx="416836" cy="416836"/>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ln w="9525" cap="rnd">
              <a:solidFill>
                <a:srgbClr val="FFFFFF">
                  <a:alpha val="49804"/>
                </a:srgbClr>
              </a:solidFill>
              <a:prstDash val="solid"/>
              <a:round/>
            </a:ln>
          </p:spPr>
        </p:sp>
        <p:sp>
          <p:nvSpPr>
            <p:cNvPr id="11" name="TextBox 11"/>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2" name="Freeform 12"/>
          <p:cNvSpPr/>
          <p:nvPr/>
        </p:nvSpPr>
        <p:spPr>
          <a:xfrm>
            <a:off x="16954260" y="755908"/>
            <a:ext cx="193244" cy="128749"/>
          </a:xfrm>
          <a:custGeom>
            <a:avLst/>
            <a:gdLst/>
            <a:ahLst/>
            <a:cxnLst/>
            <a:rect l="l" t="t" r="r" b="b"/>
            <a:pathLst>
              <a:path w="193244" h="128749">
                <a:moveTo>
                  <a:pt x="0" y="0"/>
                </a:moveTo>
                <a:lnTo>
                  <a:pt x="193244" y="0"/>
                </a:lnTo>
                <a:lnTo>
                  <a:pt x="193244" y="128749"/>
                </a:lnTo>
                <a:lnTo>
                  <a:pt x="0" y="1287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Freeform 13"/>
          <p:cNvSpPr/>
          <p:nvPr/>
        </p:nvSpPr>
        <p:spPr>
          <a:xfrm>
            <a:off x="3386715" y="735023"/>
            <a:ext cx="170453" cy="170453"/>
          </a:xfrm>
          <a:custGeom>
            <a:avLst/>
            <a:gdLst/>
            <a:ahLst/>
            <a:cxnLst/>
            <a:rect l="l" t="t" r="r" b="b"/>
            <a:pathLst>
              <a:path w="170453" h="170453">
                <a:moveTo>
                  <a:pt x="0" y="0"/>
                </a:moveTo>
                <a:lnTo>
                  <a:pt x="170453" y="0"/>
                </a:lnTo>
                <a:lnTo>
                  <a:pt x="170453" y="170452"/>
                </a:lnTo>
                <a:lnTo>
                  <a:pt x="0" y="17045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4" name="Freeform 14"/>
          <p:cNvSpPr/>
          <p:nvPr/>
        </p:nvSpPr>
        <p:spPr>
          <a:xfrm>
            <a:off x="1575416" y="2955689"/>
            <a:ext cx="14212433" cy="5539412"/>
          </a:xfrm>
          <a:custGeom>
            <a:avLst/>
            <a:gdLst/>
            <a:ahLst/>
            <a:cxnLst/>
            <a:rect l="l" t="t" r="r" b="b"/>
            <a:pathLst>
              <a:path w="14212433" h="5539412">
                <a:moveTo>
                  <a:pt x="0" y="0"/>
                </a:moveTo>
                <a:lnTo>
                  <a:pt x="14212433" y="0"/>
                </a:lnTo>
                <a:lnTo>
                  <a:pt x="14212433" y="5539412"/>
                </a:lnTo>
                <a:lnTo>
                  <a:pt x="0" y="5539412"/>
                </a:lnTo>
                <a:lnTo>
                  <a:pt x="0" y="0"/>
                </a:lnTo>
                <a:close/>
              </a:path>
            </a:pathLst>
          </a:custGeom>
          <a:blipFill>
            <a:blip r:embed="rId7"/>
            <a:stretch>
              <a:fillRect/>
            </a:stretch>
          </a:blipFill>
        </p:spPr>
      </p:sp>
      <p:sp>
        <p:nvSpPr>
          <p:cNvPr id="15" name="TextBox 15"/>
          <p:cNvSpPr txBox="1"/>
          <p:nvPr/>
        </p:nvSpPr>
        <p:spPr>
          <a:xfrm>
            <a:off x="1074436" y="1849584"/>
            <a:ext cx="14713413" cy="762479"/>
          </a:xfrm>
          <a:prstGeom prst="rect">
            <a:avLst/>
          </a:prstGeom>
        </p:spPr>
        <p:txBody>
          <a:bodyPr lIns="0" tIns="0" rIns="0" bIns="0" rtlCol="0" anchor="t">
            <a:spAutoFit/>
          </a:bodyPr>
          <a:lstStyle/>
          <a:p>
            <a:pPr algn="l">
              <a:lnSpc>
                <a:spcPts val="5370"/>
              </a:lnSpc>
            </a:pPr>
            <a:r>
              <a:rPr lang="en-US" sz="6393">
                <a:solidFill>
                  <a:srgbClr val="DEF0FF"/>
                </a:solidFill>
                <a:latin typeface="RQND Pro UltraWide"/>
                <a:ea typeface="RQND Pro UltraWide"/>
                <a:cs typeface="RQND Pro UltraWide"/>
                <a:sym typeface="RQND Pro UltraWide"/>
              </a:rPr>
              <a:t>Rancangan Empat Skenario</a:t>
            </a:r>
          </a:p>
        </p:txBody>
      </p:sp>
      <p:sp>
        <p:nvSpPr>
          <p:cNvPr id="16" name="TextBox 16"/>
          <p:cNvSpPr txBox="1"/>
          <p:nvPr/>
        </p:nvSpPr>
        <p:spPr>
          <a:xfrm>
            <a:off x="15742113" y="657054"/>
            <a:ext cx="813226" cy="269306"/>
          </a:xfrm>
          <a:prstGeom prst="rect">
            <a:avLst/>
          </a:prstGeom>
        </p:spPr>
        <p:txBody>
          <a:bodyPr lIns="0" tIns="0" rIns="0" bIns="0" rtlCol="0" anchor="t">
            <a:spAutoFit/>
          </a:bodyPr>
          <a:lstStyle/>
          <a:p>
            <a:pPr algn="ctr">
              <a:lnSpc>
                <a:spcPts val="1960"/>
              </a:lnSpc>
              <a:spcBef>
                <a:spcPct val="0"/>
              </a:spcBef>
            </a:pPr>
            <a:r>
              <a:rPr lang="en-US" sz="1400" spc="-56">
                <a:solidFill>
                  <a:srgbClr val="DEF0FF"/>
                </a:solidFill>
                <a:latin typeface="Telegraf"/>
                <a:ea typeface="Telegraf"/>
                <a:cs typeface="Telegraf"/>
                <a:sym typeface="Telegraf"/>
              </a:rPr>
              <a:t>Contact</a:t>
            </a:r>
          </a:p>
        </p:txBody>
      </p:sp>
      <p:sp>
        <p:nvSpPr>
          <p:cNvPr id="17" name="TextBox 17"/>
          <p:cNvSpPr txBox="1"/>
          <p:nvPr/>
        </p:nvSpPr>
        <p:spPr>
          <a:xfrm>
            <a:off x="6878436" y="657054"/>
            <a:ext cx="751945" cy="269240"/>
          </a:xfrm>
          <a:prstGeom prst="rect">
            <a:avLst/>
          </a:prstGeom>
        </p:spPr>
        <p:txBody>
          <a:bodyPr lIns="0" tIns="0" rIns="0" bIns="0" rtlCol="0" anchor="t">
            <a:spAutoFit/>
          </a:bodyPr>
          <a:lstStyle/>
          <a:p>
            <a:pPr algn="ctr">
              <a:lnSpc>
                <a:spcPts val="1960"/>
              </a:lnSpc>
              <a:spcBef>
                <a:spcPct val="0"/>
              </a:spcBef>
            </a:pPr>
            <a:r>
              <a:rPr lang="en-US" sz="1400" b="1" spc="-56">
                <a:solidFill>
                  <a:srgbClr val="DEF0FF"/>
                </a:solidFill>
                <a:latin typeface="Telegraf Bold"/>
                <a:ea typeface="Telegraf Bold"/>
                <a:cs typeface="Telegraf Bold"/>
                <a:sym typeface="Telegraf Bold"/>
              </a:rPr>
              <a:t>Home</a:t>
            </a:r>
          </a:p>
        </p:txBody>
      </p:sp>
      <p:sp>
        <p:nvSpPr>
          <p:cNvPr id="18" name="TextBox 18"/>
          <p:cNvSpPr txBox="1"/>
          <p:nvPr/>
        </p:nvSpPr>
        <p:spPr>
          <a:xfrm>
            <a:off x="7967106" y="657054"/>
            <a:ext cx="928073"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Services</a:t>
            </a:r>
          </a:p>
        </p:txBody>
      </p:sp>
      <p:sp>
        <p:nvSpPr>
          <p:cNvPr id="19" name="TextBox 19"/>
          <p:cNvSpPr txBox="1"/>
          <p:nvPr/>
        </p:nvSpPr>
        <p:spPr>
          <a:xfrm>
            <a:off x="10486033" y="657054"/>
            <a:ext cx="923532"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About Us</a:t>
            </a:r>
          </a:p>
        </p:txBody>
      </p:sp>
      <p:sp>
        <p:nvSpPr>
          <p:cNvPr id="20" name="TextBox 20"/>
          <p:cNvSpPr txBox="1"/>
          <p:nvPr/>
        </p:nvSpPr>
        <p:spPr>
          <a:xfrm>
            <a:off x="9231904" y="657054"/>
            <a:ext cx="917404"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Features</a:t>
            </a:r>
          </a:p>
        </p:txBody>
      </p:sp>
      <p:sp>
        <p:nvSpPr>
          <p:cNvPr id="21" name="TextBox 21"/>
          <p:cNvSpPr txBox="1"/>
          <p:nvPr/>
        </p:nvSpPr>
        <p:spPr>
          <a:xfrm>
            <a:off x="1575416" y="8892855"/>
            <a:ext cx="14649953" cy="791845"/>
          </a:xfrm>
          <a:prstGeom prst="rect">
            <a:avLst/>
          </a:prstGeom>
        </p:spPr>
        <p:txBody>
          <a:bodyPr lIns="0" tIns="0" rIns="0" bIns="0" rtlCol="0" anchor="t">
            <a:spAutoFit/>
          </a:bodyPr>
          <a:lstStyle/>
          <a:p>
            <a:pPr algn="l">
              <a:lnSpc>
                <a:spcPts val="3079"/>
              </a:lnSpc>
              <a:spcBef>
                <a:spcPct val="0"/>
              </a:spcBef>
            </a:pPr>
            <a:r>
              <a:rPr lang="en-US" sz="2199" b="1" spc="-87">
                <a:solidFill>
                  <a:srgbClr val="DEF0FF"/>
                </a:solidFill>
                <a:latin typeface="Telegraf Bold"/>
                <a:ea typeface="Telegraf Bold"/>
                <a:cs typeface="Telegraf Bold"/>
                <a:sym typeface="Telegraf Bold"/>
              </a:rPr>
              <a:t>Head klasifikasi : GlobalAveragePooling, BatchNorm, Dropout 0,3, Dense 128, Dropout 0,2, Softmax. base_model dipanggil training=False.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grpSp>
        <p:nvGrpSpPr>
          <p:cNvPr id="3" name="Group 3"/>
          <p:cNvGrpSpPr/>
          <p:nvPr/>
        </p:nvGrpSpPr>
        <p:grpSpPr>
          <a:xfrm>
            <a:off x="1028700" y="611864"/>
            <a:ext cx="2704510" cy="416836"/>
            <a:chOff x="0" y="0"/>
            <a:chExt cx="712299" cy="109784"/>
          </a:xfrm>
        </p:grpSpPr>
        <p:sp>
          <p:nvSpPr>
            <p:cNvPr id="4" name="Freeform 4"/>
            <p:cNvSpPr/>
            <p:nvPr/>
          </p:nvSpPr>
          <p:spPr>
            <a:xfrm>
              <a:off x="0" y="0"/>
              <a:ext cx="712299" cy="109784"/>
            </a:xfrm>
            <a:custGeom>
              <a:avLst/>
              <a:gdLst/>
              <a:ahLst/>
              <a:cxnLst/>
              <a:rect l="l" t="t" r="r" b="b"/>
              <a:pathLst>
                <a:path w="712299" h="109784">
                  <a:moveTo>
                    <a:pt x="54892" y="0"/>
                  </a:moveTo>
                  <a:lnTo>
                    <a:pt x="657407" y="0"/>
                  </a:lnTo>
                  <a:cubicBezTo>
                    <a:pt x="671965" y="0"/>
                    <a:pt x="685927" y="5783"/>
                    <a:pt x="696221" y="16077"/>
                  </a:cubicBezTo>
                  <a:cubicBezTo>
                    <a:pt x="706516" y="26372"/>
                    <a:pt x="712299" y="40334"/>
                    <a:pt x="712299" y="54892"/>
                  </a:cubicBezTo>
                  <a:lnTo>
                    <a:pt x="712299" y="54892"/>
                  </a:lnTo>
                  <a:cubicBezTo>
                    <a:pt x="712299" y="85208"/>
                    <a:pt x="687723" y="109784"/>
                    <a:pt x="657407"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ln w="9525" cap="rnd">
              <a:solidFill>
                <a:srgbClr val="FFFFFF">
                  <a:alpha val="49804"/>
                </a:srgbClr>
              </a:solidFill>
              <a:prstDash val="solid"/>
              <a:round/>
            </a:ln>
          </p:spPr>
        </p:sp>
        <p:sp>
          <p:nvSpPr>
            <p:cNvPr id="5" name="TextBox 5"/>
            <p:cNvSpPr txBox="1"/>
            <p:nvPr/>
          </p:nvSpPr>
          <p:spPr>
            <a:xfrm>
              <a:off x="0" y="-38100"/>
              <a:ext cx="712299" cy="147884"/>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5558984" y="611864"/>
            <a:ext cx="1179483" cy="416836"/>
            <a:chOff x="0" y="0"/>
            <a:chExt cx="310646" cy="109784"/>
          </a:xfrm>
        </p:grpSpPr>
        <p:sp>
          <p:nvSpPr>
            <p:cNvPr id="7" name="Freeform 7"/>
            <p:cNvSpPr/>
            <p:nvPr/>
          </p:nvSpPr>
          <p:spPr>
            <a:xfrm>
              <a:off x="0" y="0"/>
              <a:ext cx="310646" cy="109784"/>
            </a:xfrm>
            <a:custGeom>
              <a:avLst/>
              <a:gdLst/>
              <a:ahLst/>
              <a:cxnLst/>
              <a:rect l="l" t="t" r="r" b="b"/>
              <a:pathLst>
                <a:path w="310646" h="109784">
                  <a:moveTo>
                    <a:pt x="54892" y="0"/>
                  </a:moveTo>
                  <a:lnTo>
                    <a:pt x="255754" y="0"/>
                  </a:lnTo>
                  <a:cubicBezTo>
                    <a:pt x="286070" y="0"/>
                    <a:pt x="310646" y="24576"/>
                    <a:pt x="310646" y="54892"/>
                  </a:cubicBezTo>
                  <a:lnTo>
                    <a:pt x="310646" y="54892"/>
                  </a:lnTo>
                  <a:cubicBezTo>
                    <a:pt x="310646" y="69450"/>
                    <a:pt x="304862" y="83412"/>
                    <a:pt x="294568" y="93706"/>
                  </a:cubicBezTo>
                  <a:cubicBezTo>
                    <a:pt x="284274" y="104001"/>
                    <a:pt x="270312" y="109784"/>
                    <a:pt x="255754"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ln w="9525" cap="rnd">
              <a:solidFill>
                <a:srgbClr val="FFFFFF">
                  <a:alpha val="49804"/>
                </a:srgbClr>
              </a:solidFill>
              <a:prstDash val="solid"/>
              <a:round/>
            </a:ln>
          </p:spPr>
        </p:sp>
        <p:sp>
          <p:nvSpPr>
            <p:cNvPr id="8" name="TextBox 8"/>
            <p:cNvSpPr txBox="1"/>
            <p:nvPr/>
          </p:nvSpPr>
          <p:spPr>
            <a:xfrm>
              <a:off x="0" y="-38100"/>
              <a:ext cx="310646" cy="14788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16842464" y="611864"/>
            <a:ext cx="416836" cy="416836"/>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ln w="9525" cap="rnd">
              <a:solidFill>
                <a:srgbClr val="FFFFFF">
                  <a:alpha val="49804"/>
                </a:srgbClr>
              </a:solidFill>
              <a:prstDash val="solid"/>
              <a:round/>
            </a:ln>
          </p:spPr>
        </p:sp>
        <p:sp>
          <p:nvSpPr>
            <p:cNvPr id="11" name="TextBox 11"/>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2" name="Freeform 12"/>
          <p:cNvSpPr/>
          <p:nvPr/>
        </p:nvSpPr>
        <p:spPr>
          <a:xfrm>
            <a:off x="16954260" y="755908"/>
            <a:ext cx="193244" cy="128749"/>
          </a:xfrm>
          <a:custGeom>
            <a:avLst/>
            <a:gdLst/>
            <a:ahLst/>
            <a:cxnLst/>
            <a:rect l="l" t="t" r="r" b="b"/>
            <a:pathLst>
              <a:path w="193244" h="128749">
                <a:moveTo>
                  <a:pt x="0" y="0"/>
                </a:moveTo>
                <a:lnTo>
                  <a:pt x="193244" y="0"/>
                </a:lnTo>
                <a:lnTo>
                  <a:pt x="193244" y="128749"/>
                </a:lnTo>
                <a:lnTo>
                  <a:pt x="0" y="1287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Freeform 13"/>
          <p:cNvSpPr/>
          <p:nvPr/>
        </p:nvSpPr>
        <p:spPr>
          <a:xfrm>
            <a:off x="3386715" y="735023"/>
            <a:ext cx="170453" cy="170453"/>
          </a:xfrm>
          <a:custGeom>
            <a:avLst/>
            <a:gdLst/>
            <a:ahLst/>
            <a:cxnLst/>
            <a:rect l="l" t="t" r="r" b="b"/>
            <a:pathLst>
              <a:path w="170453" h="170453">
                <a:moveTo>
                  <a:pt x="0" y="0"/>
                </a:moveTo>
                <a:lnTo>
                  <a:pt x="170453" y="0"/>
                </a:lnTo>
                <a:lnTo>
                  <a:pt x="170453" y="170452"/>
                </a:lnTo>
                <a:lnTo>
                  <a:pt x="0" y="17045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4" name="Freeform 14"/>
          <p:cNvSpPr/>
          <p:nvPr/>
        </p:nvSpPr>
        <p:spPr>
          <a:xfrm>
            <a:off x="1738190" y="2666736"/>
            <a:ext cx="15104275" cy="3942109"/>
          </a:xfrm>
          <a:custGeom>
            <a:avLst/>
            <a:gdLst/>
            <a:ahLst/>
            <a:cxnLst/>
            <a:rect l="l" t="t" r="r" b="b"/>
            <a:pathLst>
              <a:path w="15104275" h="3942109">
                <a:moveTo>
                  <a:pt x="0" y="0"/>
                </a:moveTo>
                <a:lnTo>
                  <a:pt x="15104274" y="0"/>
                </a:lnTo>
                <a:lnTo>
                  <a:pt x="15104274" y="3942109"/>
                </a:lnTo>
                <a:lnTo>
                  <a:pt x="0" y="3942109"/>
                </a:lnTo>
                <a:lnTo>
                  <a:pt x="0" y="0"/>
                </a:lnTo>
                <a:close/>
              </a:path>
            </a:pathLst>
          </a:custGeom>
          <a:blipFill>
            <a:blip r:embed="rId7"/>
            <a:stretch>
              <a:fillRect/>
            </a:stretch>
          </a:blipFill>
        </p:spPr>
      </p:sp>
      <p:sp>
        <p:nvSpPr>
          <p:cNvPr id="15" name="TextBox 15"/>
          <p:cNvSpPr txBox="1"/>
          <p:nvPr/>
        </p:nvSpPr>
        <p:spPr>
          <a:xfrm>
            <a:off x="1738190" y="1754189"/>
            <a:ext cx="15990803" cy="762479"/>
          </a:xfrm>
          <a:prstGeom prst="rect">
            <a:avLst/>
          </a:prstGeom>
        </p:spPr>
        <p:txBody>
          <a:bodyPr lIns="0" tIns="0" rIns="0" bIns="0" rtlCol="0" anchor="t">
            <a:spAutoFit/>
          </a:bodyPr>
          <a:lstStyle/>
          <a:p>
            <a:pPr algn="l">
              <a:lnSpc>
                <a:spcPts val="5370"/>
              </a:lnSpc>
            </a:pPr>
            <a:r>
              <a:rPr lang="en-US" sz="6393">
                <a:solidFill>
                  <a:srgbClr val="DEF0FF"/>
                </a:solidFill>
                <a:latin typeface="RQND Pro UltraWide"/>
                <a:ea typeface="RQND Pro UltraWide"/>
                <a:cs typeface="RQND Pro UltraWide"/>
                <a:sym typeface="RQND Pro UltraWide"/>
              </a:rPr>
              <a:t>Hasil Perbandingan 4 Skenario</a:t>
            </a:r>
          </a:p>
        </p:txBody>
      </p:sp>
      <p:sp>
        <p:nvSpPr>
          <p:cNvPr id="16" name="TextBox 16"/>
          <p:cNvSpPr txBox="1"/>
          <p:nvPr/>
        </p:nvSpPr>
        <p:spPr>
          <a:xfrm>
            <a:off x="15742113" y="657054"/>
            <a:ext cx="813226" cy="269306"/>
          </a:xfrm>
          <a:prstGeom prst="rect">
            <a:avLst/>
          </a:prstGeom>
        </p:spPr>
        <p:txBody>
          <a:bodyPr lIns="0" tIns="0" rIns="0" bIns="0" rtlCol="0" anchor="t">
            <a:spAutoFit/>
          </a:bodyPr>
          <a:lstStyle/>
          <a:p>
            <a:pPr algn="ctr">
              <a:lnSpc>
                <a:spcPts val="1960"/>
              </a:lnSpc>
              <a:spcBef>
                <a:spcPct val="0"/>
              </a:spcBef>
            </a:pPr>
            <a:r>
              <a:rPr lang="en-US" sz="1400" spc="-56">
                <a:solidFill>
                  <a:srgbClr val="DEF0FF"/>
                </a:solidFill>
                <a:latin typeface="Telegraf"/>
                <a:ea typeface="Telegraf"/>
                <a:cs typeface="Telegraf"/>
                <a:sym typeface="Telegraf"/>
              </a:rPr>
              <a:t>Contact</a:t>
            </a:r>
          </a:p>
        </p:txBody>
      </p:sp>
      <p:sp>
        <p:nvSpPr>
          <p:cNvPr id="17" name="TextBox 17"/>
          <p:cNvSpPr txBox="1"/>
          <p:nvPr/>
        </p:nvSpPr>
        <p:spPr>
          <a:xfrm>
            <a:off x="6878436" y="657054"/>
            <a:ext cx="751945" cy="269240"/>
          </a:xfrm>
          <a:prstGeom prst="rect">
            <a:avLst/>
          </a:prstGeom>
        </p:spPr>
        <p:txBody>
          <a:bodyPr lIns="0" tIns="0" rIns="0" bIns="0" rtlCol="0" anchor="t">
            <a:spAutoFit/>
          </a:bodyPr>
          <a:lstStyle/>
          <a:p>
            <a:pPr algn="ctr">
              <a:lnSpc>
                <a:spcPts val="1960"/>
              </a:lnSpc>
              <a:spcBef>
                <a:spcPct val="0"/>
              </a:spcBef>
            </a:pPr>
            <a:r>
              <a:rPr lang="en-US" sz="1400" b="1" spc="-56">
                <a:solidFill>
                  <a:srgbClr val="DEF0FF"/>
                </a:solidFill>
                <a:latin typeface="Telegraf Bold"/>
                <a:ea typeface="Telegraf Bold"/>
                <a:cs typeface="Telegraf Bold"/>
                <a:sym typeface="Telegraf Bold"/>
              </a:rPr>
              <a:t>Home</a:t>
            </a:r>
          </a:p>
        </p:txBody>
      </p:sp>
      <p:sp>
        <p:nvSpPr>
          <p:cNvPr id="18" name="TextBox 18"/>
          <p:cNvSpPr txBox="1"/>
          <p:nvPr/>
        </p:nvSpPr>
        <p:spPr>
          <a:xfrm>
            <a:off x="7967106" y="657054"/>
            <a:ext cx="928073"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Services</a:t>
            </a:r>
          </a:p>
        </p:txBody>
      </p:sp>
      <p:sp>
        <p:nvSpPr>
          <p:cNvPr id="19" name="TextBox 19"/>
          <p:cNvSpPr txBox="1"/>
          <p:nvPr/>
        </p:nvSpPr>
        <p:spPr>
          <a:xfrm>
            <a:off x="10486033" y="657054"/>
            <a:ext cx="923532"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About Us</a:t>
            </a:r>
          </a:p>
        </p:txBody>
      </p:sp>
      <p:sp>
        <p:nvSpPr>
          <p:cNvPr id="20" name="TextBox 20"/>
          <p:cNvSpPr txBox="1"/>
          <p:nvPr/>
        </p:nvSpPr>
        <p:spPr>
          <a:xfrm>
            <a:off x="9231904" y="657054"/>
            <a:ext cx="917404"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Features</a:t>
            </a:r>
          </a:p>
        </p:txBody>
      </p:sp>
      <p:sp>
        <p:nvSpPr>
          <p:cNvPr id="21" name="TextBox 21"/>
          <p:cNvSpPr txBox="1"/>
          <p:nvPr/>
        </p:nvSpPr>
        <p:spPr>
          <a:xfrm>
            <a:off x="1738190" y="7075778"/>
            <a:ext cx="15000277" cy="2553335"/>
          </a:xfrm>
          <a:prstGeom prst="rect">
            <a:avLst/>
          </a:prstGeom>
        </p:spPr>
        <p:txBody>
          <a:bodyPr lIns="0" tIns="0" rIns="0" bIns="0" rtlCol="0" anchor="t">
            <a:spAutoFit/>
          </a:bodyPr>
          <a:lstStyle/>
          <a:p>
            <a:pPr marL="431801" lvl="1" indent="-215900" algn="just">
              <a:lnSpc>
                <a:spcPts val="4120"/>
              </a:lnSpc>
              <a:buFont typeface="Arial"/>
              <a:buChar char="•"/>
            </a:pPr>
            <a:r>
              <a:rPr lang="en-US" sz="2000" b="1" spc="-80">
                <a:solidFill>
                  <a:srgbClr val="DEF0FF"/>
                </a:solidFill>
                <a:latin typeface="Telegraf Bold"/>
                <a:ea typeface="Telegraf Bold"/>
                <a:cs typeface="Telegraf Bold"/>
                <a:sym typeface="Telegraf Bold"/>
              </a:rPr>
              <a:t>Transfer learning (S2 sampai S4) unggul dari Custom CNN (S1), S1 belum konvergen pada 15 epoch</a:t>
            </a:r>
          </a:p>
          <a:p>
            <a:pPr marL="431801" lvl="1" indent="-215900" algn="just">
              <a:lnSpc>
                <a:spcPts val="4120"/>
              </a:lnSpc>
              <a:buFont typeface="Arial"/>
              <a:buChar char="•"/>
            </a:pPr>
            <a:r>
              <a:rPr lang="en-US" sz="2000" b="1" spc="-80">
                <a:solidFill>
                  <a:srgbClr val="DEF0FF"/>
                </a:solidFill>
                <a:latin typeface="Telegraf Bold"/>
                <a:ea typeface="Telegraf Bold"/>
                <a:cs typeface="Telegraf Bold"/>
                <a:sym typeface="Telegraf Bold"/>
              </a:rPr>
              <a:t>S2 tertinggi (99,55%), augmentasi (S3) dan fine-tuning (S4) tidak meningkatkan akurasi pada test yang seragam dan kemungkinan lebih rendah dari S2</a:t>
            </a:r>
          </a:p>
          <a:p>
            <a:pPr marL="431801" lvl="1" indent="-215900" algn="just">
              <a:lnSpc>
                <a:spcPts val="4120"/>
              </a:lnSpc>
              <a:buFont typeface="Arial"/>
              <a:buChar char="•"/>
            </a:pPr>
            <a:r>
              <a:rPr lang="en-US" sz="2000" b="1" spc="-80">
                <a:solidFill>
                  <a:srgbClr val="DEF0FF"/>
                </a:solidFill>
                <a:latin typeface="Telegraf Bold"/>
                <a:ea typeface="Telegraf Bold"/>
                <a:cs typeface="Telegraf Bold"/>
                <a:sym typeface="Telegraf Bold"/>
              </a:rPr>
              <a:t>S3 dan S4 setara (selisih 1 citra, CI tumpang tindih); 1 citra = 0,45% dari 222 data uji</a:t>
            </a:r>
          </a:p>
          <a:p>
            <a:pPr marL="431801" lvl="1" indent="-215900" algn="just">
              <a:lnSpc>
                <a:spcPts val="4120"/>
              </a:lnSpc>
              <a:spcBef>
                <a:spcPct val="0"/>
              </a:spcBef>
              <a:buFont typeface="Arial"/>
              <a:buChar char="•"/>
            </a:pPr>
            <a:r>
              <a:rPr lang="en-US" sz="2000" b="1" spc="-80">
                <a:solidFill>
                  <a:srgbClr val="DEF0FF"/>
                </a:solidFill>
                <a:latin typeface="Telegraf Bold"/>
                <a:ea typeface="Telegraf Bold"/>
                <a:cs typeface="Telegraf Bold"/>
                <a:sym typeface="Telegraf Bold"/>
              </a:rPr>
              <a:t>Manfaat augmentasi terlihat pada ketahanan terhadap rotasi 90° (96,85% vs 90,09%)</a:t>
            </a:r>
          </a:p>
        </p:txBody>
      </p:sp>
      <p:sp>
        <p:nvSpPr>
          <p:cNvPr id="22" name="TextBox 22"/>
          <p:cNvSpPr txBox="1"/>
          <p:nvPr/>
        </p:nvSpPr>
        <p:spPr>
          <a:xfrm>
            <a:off x="1646833" y="6720264"/>
            <a:ext cx="8839200" cy="244094"/>
          </a:xfrm>
          <a:prstGeom prst="rect">
            <a:avLst/>
          </a:prstGeom>
        </p:spPr>
        <p:txBody>
          <a:bodyPr wrap="square" lIns="0" tIns="0" rIns="0" bIns="0" rtlCol="0" anchor="t">
            <a:spAutoFit/>
          </a:bodyPr>
          <a:lstStyle/>
          <a:p>
            <a:pPr algn="ctr">
              <a:lnSpc>
                <a:spcPts val="1960"/>
              </a:lnSpc>
              <a:spcBef>
                <a:spcPct val="0"/>
              </a:spcBef>
            </a:pPr>
            <a:r>
              <a:rPr lang="en-US" sz="1400" spc="-56" dirty="0">
                <a:solidFill>
                  <a:srgbClr val="FFFFFF"/>
                </a:solidFill>
                <a:latin typeface="Telegraf"/>
                <a:ea typeface="Telegraf"/>
                <a:cs typeface="Telegraf"/>
                <a:sym typeface="Telegraf"/>
              </a:rPr>
              <a:t>*Waktu </a:t>
            </a:r>
            <a:r>
              <a:rPr lang="en-US" sz="1400" spc="-56" dirty="0" err="1">
                <a:solidFill>
                  <a:srgbClr val="FFFFFF"/>
                </a:solidFill>
                <a:latin typeface="Telegraf"/>
                <a:ea typeface="Telegraf"/>
                <a:cs typeface="Telegraf"/>
                <a:sym typeface="Telegraf"/>
              </a:rPr>
              <a:t>hanya</a:t>
            </a:r>
            <a:r>
              <a:rPr lang="en-US" sz="1400" spc="-56" dirty="0">
                <a:solidFill>
                  <a:srgbClr val="FFFFFF"/>
                </a:solidFill>
                <a:latin typeface="Telegraf"/>
                <a:ea typeface="Telegraf"/>
                <a:cs typeface="Telegraf"/>
                <a:sym typeface="Telegraf"/>
              </a:rPr>
              <a:t> </a:t>
            </a:r>
            <a:r>
              <a:rPr lang="en-US" sz="1400" spc="-56" dirty="0" err="1">
                <a:solidFill>
                  <a:srgbClr val="FFFFFF"/>
                </a:solidFill>
                <a:latin typeface="Telegraf"/>
                <a:ea typeface="Telegraf"/>
                <a:cs typeface="Telegraf"/>
                <a:sym typeface="Telegraf"/>
              </a:rPr>
              <a:t>indikatif</a:t>
            </a:r>
            <a:r>
              <a:rPr lang="en-US" sz="1400" spc="-56" dirty="0">
                <a:solidFill>
                  <a:srgbClr val="FFFFFF"/>
                </a:solidFill>
                <a:latin typeface="Telegraf"/>
                <a:ea typeface="Telegraf"/>
                <a:cs typeface="Telegraf"/>
                <a:sym typeface="Telegraf"/>
              </a:rPr>
              <a:t>. Waktu S1 </a:t>
            </a:r>
            <a:r>
              <a:rPr lang="en-US" sz="1400" spc="-56" dirty="0" err="1">
                <a:solidFill>
                  <a:srgbClr val="FFFFFF"/>
                </a:solidFill>
                <a:latin typeface="Telegraf"/>
                <a:ea typeface="Telegraf"/>
                <a:cs typeface="Telegraf"/>
                <a:sym typeface="Telegraf"/>
              </a:rPr>
              <a:t>mencakup</a:t>
            </a:r>
            <a:r>
              <a:rPr lang="en-US" sz="1400" spc="-56" dirty="0">
                <a:solidFill>
                  <a:srgbClr val="FFFFFF"/>
                </a:solidFill>
                <a:latin typeface="Telegraf"/>
                <a:ea typeface="Telegraf"/>
                <a:cs typeface="Telegraf"/>
                <a:sym typeface="Telegraf"/>
              </a:rPr>
              <a:t> decode dan cache data pada epoch </a:t>
            </a:r>
            <a:r>
              <a:rPr lang="en-US" sz="1400" spc="-56" dirty="0" err="1">
                <a:solidFill>
                  <a:srgbClr val="FFFFFF"/>
                </a:solidFill>
                <a:latin typeface="Telegraf"/>
                <a:ea typeface="Telegraf"/>
                <a:cs typeface="Telegraf"/>
                <a:sym typeface="Telegraf"/>
              </a:rPr>
              <a:t>pertama</a:t>
            </a:r>
            <a:r>
              <a:rPr lang="en-US" sz="1400" spc="-56" dirty="0">
                <a:solidFill>
                  <a:srgbClr val="FFFFFF"/>
                </a:solidFill>
                <a:latin typeface="Telegraf"/>
                <a:ea typeface="Telegraf"/>
                <a:cs typeface="Telegraf"/>
                <a:sym typeface="Telegraf"/>
              </a:rPr>
              <a:t>, dan S4 </a:t>
            </a:r>
            <a:r>
              <a:rPr lang="en-US" sz="1400" spc="-56" dirty="0" err="1">
                <a:solidFill>
                  <a:srgbClr val="FFFFFF"/>
                </a:solidFill>
                <a:latin typeface="Telegraf"/>
                <a:ea typeface="Telegraf"/>
                <a:cs typeface="Telegraf"/>
                <a:sym typeface="Telegraf"/>
              </a:rPr>
              <a:t>dilatih</a:t>
            </a:r>
            <a:r>
              <a:rPr lang="en-US" sz="1400" spc="-56" dirty="0">
                <a:solidFill>
                  <a:srgbClr val="FFFFFF"/>
                </a:solidFill>
                <a:latin typeface="Telegraf"/>
                <a:ea typeface="Telegraf"/>
                <a:cs typeface="Telegraf"/>
                <a:sym typeface="Telegraf"/>
              </a:rPr>
              <a:t> 30 epoch.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grpSp>
        <p:nvGrpSpPr>
          <p:cNvPr id="3" name="Group 3"/>
          <p:cNvGrpSpPr/>
          <p:nvPr/>
        </p:nvGrpSpPr>
        <p:grpSpPr>
          <a:xfrm>
            <a:off x="1028700" y="611864"/>
            <a:ext cx="2704510" cy="416836"/>
            <a:chOff x="0" y="0"/>
            <a:chExt cx="712299" cy="109784"/>
          </a:xfrm>
        </p:grpSpPr>
        <p:sp>
          <p:nvSpPr>
            <p:cNvPr id="4" name="Freeform 4"/>
            <p:cNvSpPr/>
            <p:nvPr/>
          </p:nvSpPr>
          <p:spPr>
            <a:xfrm>
              <a:off x="0" y="0"/>
              <a:ext cx="712299" cy="109784"/>
            </a:xfrm>
            <a:custGeom>
              <a:avLst/>
              <a:gdLst/>
              <a:ahLst/>
              <a:cxnLst/>
              <a:rect l="l" t="t" r="r" b="b"/>
              <a:pathLst>
                <a:path w="712299" h="109784">
                  <a:moveTo>
                    <a:pt x="54892" y="0"/>
                  </a:moveTo>
                  <a:lnTo>
                    <a:pt x="657407" y="0"/>
                  </a:lnTo>
                  <a:cubicBezTo>
                    <a:pt x="671965" y="0"/>
                    <a:pt x="685927" y="5783"/>
                    <a:pt x="696221" y="16077"/>
                  </a:cubicBezTo>
                  <a:cubicBezTo>
                    <a:pt x="706516" y="26372"/>
                    <a:pt x="712299" y="40334"/>
                    <a:pt x="712299" y="54892"/>
                  </a:cubicBezTo>
                  <a:lnTo>
                    <a:pt x="712299" y="54892"/>
                  </a:lnTo>
                  <a:cubicBezTo>
                    <a:pt x="712299" y="85208"/>
                    <a:pt x="687723" y="109784"/>
                    <a:pt x="657407"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ln w="9525" cap="rnd">
              <a:solidFill>
                <a:srgbClr val="FFFFFF">
                  <a:alpha val="49804"/>
                </a:srgbClr>
              </a:solidFill>
              <a:prstDash val="solid"/>
              <a:round/>
            </a:ln>
          </p:spPr>
        </p:sp>
        <p:sp>
          <p:nvSpPr>
            <p:cNvPr id="5" name="TextBox 5"/>
            <p:cNvSpPr txBox="1"/>
            <p:nvPr/>
          </p:nvSpPr>
          <p:spPr>
            <a:xfrm>
              <a:off x="0" y="-38100"/>
              <a:ext cx="712299" cy="147884"/>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5558984" y="611864"/>
            <a:ext cx="1179483" cy="416836"/>
            <a:chOff x="0" y="0"/>
            <a:chExt cx="310646" cy="109784"/>
          </a:xfrm>
        </p:grpSpPr>
        <p:sp>
          <p:nvSpPr>
            <p:cNvPr id="7" name="Freeform 7"/>
            <p:cNvSpPr/>
            <p:nvPr/>
          </p:nvSpPr>
          <p:spPr>
            <a:xfrm>
              <a:off x="0" y="0"/>
              <a:ext cx="310646" cy="109784"/>
            </a:xfrm>
            <a:custGeom>
              <a:avLst/>
              <a:gdLst/>
              <a:ahLst/>
              <a:cxnLst/>
              <a:rect l="l" t="t" r="r" b="b"/>
              <a:pathLst>
                <a:path w="310646" h="109784">
                  <a:moveTo>
                    <a:pt x="54892" y="0"/>
                  </a:moveTo>
                  <a:lnTo>
                    <a:pt x="255754" y="0"/>
                  </a:lnTo>
                  <a:cubicBezTo>
                    <a:pt x="286070" y="0"/>
                    <a:pt x="310646" y="24576"/>
                    <a:pt x="310646" y="54892"/>
                  </a:cubicBezTo>
                  <a:lnTo>
                    <a:pt x="310646" y="54892"/>
                  </a:lnTo>
                  <a:cubicBezTo>
                    <a:pt x="310646" y="69450"/>
                    <a:pt x="304862" y="83412"/>
                    <a:pt x="294568" y="93706"/>
                  </a:cubicBezTo>
                  <a:cubicBezTo>
                    <a:pt x="284274" y="104001"/>
                    <a:pt x="270312" y="109784"/>
                    <a:pt x="255754"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ln w="9525" cap="rnd">
              <a:solidFill>
                <a:srgbClr val="FFFFFF">
                  <a:alpha val="49804"/>
                </a:srgbClr>
              </a:solidFill>
              <a:prstDash val="solid"/>
              <a:round/>
            </a:ln>
          </p:spPr>
        </p:sp>
        <p:sp>
          <p:nvSpPr>
            <p:cNvPr id="8" name="TextBox 8"/>
            <p:cNvSpPr txBox="1"/>
            <p:nvPr/>
          </p:nvSpPr>
          <p:spPr>
            <a:xfrm>
              <a:off x="0" y="-38100"/>
              <a:ext cx="310646" cy="14788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16842464" y="611864"/>
            <a:ext cx="416836" cy="416836"/>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ln w="9525" cap="rnd">
              <a:solidFill>
                <a:srgbClr val="FFFFFF">
                  <a:alpha val="49804"/>
                </a:srgbClr>
              </a:solidFill>
              <a:prstDash val="solid"/>
              <a:round/>
            </a:ln>
          </p:spPr>
        </p:sp>
        <p:sp>
          <p:nvSpPr>
            <p:cNvPr id="11" name="TextBox 11"/>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2" name="Freeform 12"/>
          <p:cNvSpPr/>
          <p:nvPr/>
        </p:nvSpPr>
        <p:spPr>
          <a:xfrm>
            <a:off x="16954260" y="755908"/>
            <a:ext cx="193244" cy="128749"/>
          </a:xfrm>
          <a:custGeom>
            <a:avLst/>
            <a:gdLst/>
            <a:ahLst/>
            <a:cxnLst/>
            <a:rect l="l" t="t" r="r" b="b"/>
            <a:pathLst>
              <a:path w="193244" h="128749">
                <a:moveTo>
                  <a:pt x="0" y="0"/>
                </a:moveTo>
                <a:lnTo>
                  <a:pt x="193244" y="0"/>
                </a:lnTo>
                <a:lnTo>
                  <a:pt x="193244" y="128749"/>
                </a:lnTo>
                <a:lnTo>
                  <a:pt x="0" y="1287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Freeform 13"/>
          <p:cNvSpPr/>
          <p:nvPr/>
        </p:nvSpPr>
        <p:spPr>
          <a:xfrm>
            <a:off x="3386715" y="735023"/>
            <a:ext cx="170453" cy="170453"/>
          </a:xfrm>
          <a:custGeom>
            <a:avLst/>
            <a:gdLst/>
            <a:ahLst/>
            <a:cxnLst/>
            <a:rect l="l" t="t" r="r" b="b"/>
            <a:pathLst>
              <a:path w="170453" h="170453">
                <a:moveTo>
                  <a:pt x="0" y="0"/>
                </a:moveTo>
                <a:lnTo>
                  <a:pt x="170453" y="0"/>
                </a:lnTo>
                <a:lnTo>
                  <a:pt x="170453" y="170452"/>
                </a:lnTo>
                <a:lnTo>
                  <a:pt x="0" y="17045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4" name="Freeform 14"/>
          <p:cNvSpPr/>
          <p:nvPr/>
        </p:nvSpPr>
        <p:spPr>
          <a:xfrm>
            <a:off x="1224539" y="2924409"/>
            <a:ext cx="15826343" cy="4880370"/>
          </a:xfrm>
          <a:custGeom>
            <a:avLst/>
            <a:gdLst/>
            <a:ahLst/>
            <a:cxnLst/>
            <a:rect l="l" t="t" r="r" b="b"/>
            <a:pathLst>
              <a:path w="15826343" h="4880370">
                <a:moveTo>
                  <a:pt x="0" y="0"/>
                </a:moveTo>
                <a:lnTo>
                  <a:pt x="15826343" y="0"/>
                </a:lnTo>
                <a:lnTo>
                  <a:pt x="15826343" y="4880370"/>
                </a:lnTo>
                <a:lnTo>
                  <a:pt x="0" y="4880370"/>
                </a:lnTo>
                <a:lnTo>
                  <a:pt x="0" y="0"/>
                </a:lnTo>
                <a:close/>
              </a:path>
            </a:pathLst>
          </a:custGeom>
          <a:blipFill>
            <a:blip r:embed="rId7"/>
            <a:stretch>
              <a:fillRect/>
            </a:stretch>
          </a:blipFill>
        </p:spPr>
      </p:sp>
      <p:sp>
        <p:nvSpPr>
          <p:cNvPr id="15" name="TextBox 15"/>
          <p:cNvSpPr txBox="1"/>
          <p:nvPr/>
        </p:nvSpPr>
        <p:spPr>
          <a:xfrm>
            <a:off x="1224539" y="1647580"/>
            <a:ext cx="15838923" cy="762479"/>
          </a:xfrm>
          <a:prstGeom prst="rect">
            <a:avLst/>
          </a:prstGeom>
        </p:spPr>
        <p:txBody>
          <a:bodyPr lIns="0" tIns="0" rIns="0" bIns="0" rtlCol="0" anchor="t">
            <a:spAutoFit/>
          </a:bodyPr>
          <a:lstStyle/>
          <a:p>
            <a:pPr algn="l">
              <a:lnSpc>
                <a:spcPts val="5370"/>
              </a:lnSpc>
            </a:pPr>
            <a:r>
              <a:rPr lang="en-US" sz="6393">
                <a:solidFill>
                  <a:srgbClr val="DEF0FF"/>
                </a:solidFill>
                <a:latin typeface="RQND Pro UltraWide"/>
                <a:ea typeface="RQND Pro UltraWide"/>
                <a:cs typeface="RQND Pro UltraWide"/>
                <a:sym typeface="RQND Pro UltraWide"/>
              </a:rPr>
              <a:t>Hasil Perbandingan 4 Skenario</a:t>
            </a:r>
          </a:p>
        </p:txBody>
      </p:sp>
      <p:sp>
        <p:nvSpPr>
          <p:cNvPr id="16" name="TextBox 16"/>
          <p:cNvSpPr txBox="1"/>
          <p:nvPr/>
        </p:nvSpPr>
        <p:spPr>
          <a:xfrm>
            <a:off x="15742113" y="657054"/>
            <a:ext cx="813226" cy="269306"/>
          </a:xfrm>
          <a:prstGeom prst="rect">
            <a:avLst/>
          </a:prstGeom>
        </p:spPr>
        <p:txBody>
          <a:bodyPr lIns="0" tIns="0" rIns="0" bIns="0" rtlCol="0" anchor="t">
            <a:spAutoFit/>
          </a:bodyPr>
          <a:lstStyle/>
          <a:p>
            <a:pPr algn="ctr">
              <a:lnSpc>
                <a:spcPts val="1960"/>
              </a:lnSpc>
              <a:spcBef>
                <a:spcPct val="0"/>
              </a:spcBef>
            </a:pPr>
            <a:r>
              <a:rPr lang="en-US" sz="1400" spc="-56">
                <a:solidFill>
                  <a:srgbClr val="DEF0FF"/>
                </a:solidFill>
                <a:latin typeface="Telegraf"/>
                <a:ea typeface="Telegraf"/>
                <a:cs typeface="Telegraf"/>
                <a:sym typeface="Telegraf"/>
              </a:rPr>
              <a:t>Contact</a:t>
            </a:r>
          </a:p>
        </p:txBody>
      </p:sp>
      <p:sp>
        <p:nvSpPr>
          <p:cNvPr id="17" name="TextBox 17"/>
          <p:cNvSpPr txBox="1"/>
          <p:nvPr/>
        </p:nvSpPr>
        <p:spPr>
          <a:xfrm>
            <a:off x="6878436" y="657054"/>
            <a:ext cx="751945" cy="269240"/>
          </a:xfrm>
          <a:prstGeom prst="rect">
            <a:avLst/>
          </a:prstGeom>
        </p:spPr>
        <p:txBody>
          <a:bodyPr lIns="0" tIns="0" rIns="0" bIns="0" rtlCol="0" anchor="t">
            <a:spAutoFit/>
          </a:bodyPr>
          <a:lstStyle/>
          <a:p>
            <a:pPr algn="ctr">
              <a:lnSpc>
                <a:spcPts val="1960"/>
              </a:lnSpc>
              <a:spcBef>
                <a:spcPct val="0"/>
              </a:spcBef>
            </a:pPr>
            <a:r>
              <a:rPr lang="en-US" sz="1400" b="1" spc="-56">
                <a:solidFill>
                  <a:srgbClr val="DEF0FF"/>
                </a:solidFill>
                <a:latin typeface="Telegraf Bold"/>
                <a:ea typeface="Telegraf Bold"/>
                <a:cs typeface="Telegraf Bold"/>
                <a:sym typeface="Telegraf Bold"/>
              </a:rPr>
              <a:t>Home</a:t>
            </a:r>
          </a:p>
        </p:txBody>
      </p:sp>
      <p:sp>
        <p:nvSpPr>
          <p:cNvPr id="18" name="TextBox 18"/>
          <p:cNvSpPr txBox="1"/>
          <p:nvPr/>
        </p:nvSpPr>
        <p:spPr>
          <a:xfrm>
            <a:off x="7967106" y="657054"/>
            <a:ext cx="928073"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Services</a:t>
            </a:r>
          </a:p>
        </p:txBody>
      </p:sp>
      <p:sp>
        <p:nvSpPr>
          <p:cNvPr id="19" name="TextBox 19"/>
          <p:cNvSpPr txBox="1"/>
          <p:nvPr/>
        </p:nvSpPr>
        <p:spPr>
          <a:xfrm>
            <a:off x="10486033" y="657054"/>
            <a:ext cx="923532"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About Us</a:t>
            </a:r>
          </a:p>
        </p:txBody>
      </p:sp>
      <p:sp>
        <p:nvSpPr>
          <p:cNvPr id="20" name="TextBox 20"/>
          <p:cNvSpPr txBox="1"/>
          <p:nvPr/>
        </p:nvSpPr>
        <p:spPr>
          <a:xfrm>
            <a:off x="9231904" y="657054"/>
            <a:ext cx="917404"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Features</a:t>
            </a:r>
          </a:p>
        </p:txBody>
      </p:sp>
      <p:sp>
        <p:nvSpPr>
          <p:cNvPr id="21" name="TextBox 21"/>
          <p:cNvSpPr txBox="1"/>
          <p:nvPr/>
        </p:nvSpPr>
        <p:spPr>
          <a:xfrm>
            <a:off x="931004" y="7897240"/>
            <a:ext cx="15000277" cy="2038985"/>
          </a:xfrm>
          <a:prstGeom prst="rect">
            <a:avLst/>
          </a:prstGeom>
        </p:spPr>
        <p:txBody>
          <a:bodyPr lIns="0" tIns="0" rIns="0" bIns="0" rtlCol="0" anchor="t">
            <a:spAutoFit/>
          </a:bodyPr>
          <a:lstStyle/>
          <a:p>
            <a:pPr marL="431801" lvl="1" indent="-215900" algn="l">
              <a:lnSpc>
                <a:spcPts val="4120"/>
              </a:lnSpc>
              <a:buFont typeface="Arial"/>
              <a:buChar char="•"/>
            </a:pPr>
            <a:r>
              <a:rPr lang="en-US" sz="2000" b="1" spc="-80">
                <a:solidFill>
                  <a:srgbClr val="DEF0FF"/>
                </a:solidFill>
                <a:latin typeface="Telegraf Bold"/>
                <a:ea typeface="Telegraf Bold"/>
                <a:cs typeface="Telegraf Bold"/>
                <a:sym typeface="Telegraf Bold"/>
              </a:rPr>
              <a:t>S2 (oranye): akurasi validasi tertinggi, mencapai 100% mulai sekitar epoch ke-11, dan loss terendah (mendekati 0)</a:t>
            </a:r>
          </a:p>
          <a:p>
            <a:pPr marL="431801" lvl="1" indent="-215900" algn="l">
              <a:lnSpc>
                <a:spcPts val="4120"/>
              </a:lnSpc>
              <a:buFont typeface="Arial"/>
              <a:buChar char="•"/>
            </a:pPr>
            <a:r>
              <a:rPr lang="en-US" sz="2000" b="1" spc="-80">
                <a:solidFill>
                  <a:srgbClr val="DEF0FF"/>
                </a:solidFill>
                <a:latin typeface="Telegraf Bold"/>
                <a:ea typeface="Telegraf Bold"/>
                <a:cs typeface="Telegraf Bold"/>
                <a:sym typeface="Telegraf Bold"/>
              </a:rPr>
              <a:t>S3 (hijau): akurasi dan loss validasi naik-turun, dengan loss sempat naik sampai sekitar 0,38 pada pertengahan pelatihan</a:t>
            </a:r>
          </a:p>
          <a:p>
            <a:pPr marL="431801" lvl="1" indent="-215900" algn="l">
              <a:lnSpc>
                <a:spcPts val="4120"/>
              </a:lnSpc>
              <a:buFont typeface="Arial"/>
              <a:buChar char="•"/>
            </a:pPr>
            <a:r>
              <a:rPr lang="en-US" sz="2000" b="1" spc="-80">
                <a:solidFill>
                  <a:srgbClr val="DEF0FF"/>
                </a:solidFill>
                <a:latin typeface="Telegraf Bold"/>
                <a:ea typeface="Telegraf Bold"/>
                <a:cs typeface="Telegraf Bold"/>
                <a:sym typeface="Telegraf Bold"/>
              </a:rPr>
              <a:t>S4 (merah): naik bertahap lalu mendatar di kisaran 94 sampai 95%, dengan loss menurun mulus sampai epoch ke-30</a:t>
            </a:r>
          </a:p>
          <a:p>
            <a:pPr marL="431801" lvl="1" indent="-215900" algn="l">
              <a:lnSpc>
                <a:spcPts val="4120"/>
              </a:lnSpc>
              <a:spcBef>
                <a:spcPct val="0"/>
              </a:spcBef>
              <a:buFont typeface="Arial"/>
              <a:buChar char="•"/>
            </a:pPr>
            <a:r>
              <a:rPr lang="en-US" sz="2000" b="1" spc="-80">
                <a:solidFill>
                  <a:srgbClr val="DEF0FF"/>
                </a:solidFill>
                <a:latin typeface="Telegraf Bold"/>
                <a:ea typeface="Telegraf Bold"/>
                <a:cs typeface="Telegraf Bold"/>
                <a:sym typeface="Telegraf Bold"/>
              </a:rPr>
              <a:t>S1 (biru): paling rendah dan berfluktuasi, serta belum konvergen pada 15 epoch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grpSp>
        <p:nvGrpSpPr>
          <p:cNvPr id="3" name="Group 3"/>
          <p:cNvGrpSpPr/>
          <p:nvPr/>
        </p:nvGrpSpPr>
        <p:grpSpPr>
          <a:xfrm>
            <a:off x="1028700" y="611864"/>
            <a:ext cx="2704510" cy="416836"/>
            <a:chOff x="0" y="0"/>
            <a:chExt cx="712299" cy="109784"/>
          </a:xfrm>
        </p:grpSpPr>
        <p:sp>
          <p:nvSpPr>
            <p:cNvPr id="4" name="Freeform 4"/>
            <p:cNvSpPr/>
            <p:nvPr/>
          </p:nvSpPr>
          <p:spPr>
            <a:xfrm>
              <a:off x="0" y="0"/>
              <a:ext cx="712299" cy="109784"/>
            </a:xfrm>
            <a:custGeom>
              <a:avLst/>
              <a:gdLst/>
              <a:ahLst/>
              <a:cxnLst/>
              <a:rect l="l" t="t" r="r" b="b"/>
              <a:pathLst>
                <a:path w="712299" h="109784">
                  <a:moveTo>
                    <a:pt x="54892" y="0"/>
                  </a:moveTo>
                  <a:lnTo>
                    <a:pt x="657407" y="0"/>
                  </a:lnTo>
                  <a:cubicBezTo>
                    <a:pt x="671965" y="0"/>
                    <a:pt x="685927" y="5783"/>
                    <a:pt x="696221" y="16077"/>
                  </a:cubicBezTo>
                  <a:cubicBezTo>
                    <a:pt x="706516" y="26372"/>
                    <a:pt x="712299" y="40334"/>
                    <a:pt x="712299" y="54892"/>
                  </a:cubicBezTo>
                  <a:lnTo>
                    <a:pt x="712299" y="54892"/>
                  </a:lnTo>
                  <a:cubicBezTo>
                    <a:pt x="712299" y="85208"/>
                    <a:pt x="687723" y="109784"/>
                    <a:pt x="657407"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ln w="9525" cap="rnd">
              <a:solidFill>
                <a:srgbClr val="FFFFFF">
                  <a:alpha val="49804"/>
                </a:srgbClr>
              </a:solidFill>
              <a:prstDash val="solid"/>
              <a:round/>
            </a:ln>
          </p:spPr>
        </p:sp>
        <p:sp>
          <p:nvSpPr>
            <p:cNvPr id="5" name="TextBox 5"/>
            <p:cNvSpPr txBox="1"/>
            <p:nvPr/>
          </p:nvSpPr>
          <p:spPr>
            <a:xfrm>
              <a:off x="0" y="-38100"/>
              <a:ext cx="712299" cy="147884"/>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5558984" y="611864"/>
            <a:ext cx="1179483" cy="416836"/>
            <a:chOff x="0" y="0"/>
            <a:chExt cx="310646" cy="109784"/>
          </a:xfrm>
        </p:grpSpPr>
        <p:sp>
          <p:nvSpPr>
            <p:cNvPr id="7" name="Freeform 7"/>
            <p:cNvSpPr/>
            <p:nvPr/>
          </p:nvSpPr>
          <p:spPr>
            <a:xfrm>
              <a:off x="0" y="0"/>
              <a:ext cx="310646" cy="109784"/>
            </a:xfrm>
            <a:custGeom>
              <a:avLst/>
              <a:gdLst/>
              <a:ahLst/>
              <a:cxnLst/>
              <a:rect l="l" t="t" r="r" b="b"/>
              <a:pathLst>
                <a:path w="310646" h="109784">
                  <a:moveTo>
                    <a:pt x="54892" y="0"/>
                  </a:moveTo>
                  <a:lnTo>
                    <a:pt x="255754" y="0"/>
                  </a:lnTo>
                  <a:cubicBezTo>
                    <a:pt x="286070" y="0"/>
                    <a:pt x="310646" y="24576"/>
                    <a:pt x="310646" y="54892"/>
                  </a:cubicBezTo>
                  <a:lnTo>
                    <a:pt x="310646" y="54892"/>
                  </a:lnTo>
                  <a:cubicBezTo>
                    <a:pt x="310646" y="69450"/>
                    <a:pt x="304862" y="83412"/>
                    <a:pt x="294568" y="93706"/>
                  </a:cubicBezTo>
                  <a:cubicBezTo>
                    <a:pt x="284274" y="104001"/>
                    <a:pt x="270312" y="109784"/>
                    <a:pt x="255754"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ln w="9525" cap="rnd">
              <a:solidFill>
                <a:srgbClr val="FFFFFF">
                  <a:alpha val="49804"/>
                </a:srgbClr>
              </a:solidFill>
              <a:prstDash val="solid"/>
              <a:round/>
            </a:ln>
          </p:spPr>
        </p:sp>
        <p:sp>
          <p:nvSpPr>
            <p:cNvPr id="8" name="TextBox 8"/>
            <p:cNvSpPr txBox="1"/>
            <p:nvPr/>
          </p:nvSpPr>
          <p:spPr>
            <a:xfrm>
              <a:off x="0" y="-38100"/>
              <a:ext cx="310646" cy="14788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16842464" y="611864"/>
            <a:ext cx="416836" cy="416836"/>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ln w="9525" cap="rnd">
              <a:solidFill>
                <a:srgbClr val="FFFFFF">
                  <a:alpha val="49804"/>
                </a:srgbClr>
              </a:solidFill>
              <a:prstDash val="solid"/>
              <a:round/>
            </a:ln>
          </p:spPr>
        </p:sp>
        <p:sp>
          <p:nvSpPr>
            <p:cNvPr id="11" name="TextBox 11"/>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2" name="Freeform 12"/>
          <p:cNvSpPr/>
          <p:nvPr/>
        </p:nvSpPr>
        <p:spPr>
          <a:xfrm>
            <a:off x="16954260" y="755908"/>
            <a:ext cx="193244" cy="128749"/>
          </a:xfrm>
          <a:custGeom>
            <a:avLst/>
            <a:gdLst/>
            <a:ahLst/>
            <a:cxnLst/>
            <a:rect l="l" t="t" r="r" b="b"/>
            <a:pathLst>
              <a:path w="193244" h="128749">
                <a:moveTo>
                  <a:pt x="0" y="0"/>
                </a:moveTo>
                <a:lnTo>
                  <a:pt x="193244" y="0"/>
                </a:lnTo>
                <a:lnTo>
                  <a:pt x="193244" y="128749"/>
                </a:lnTo>
                <a:lnTo>
                  <a:pt x="0" y="1287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Freeform 13"/>
          <p:cNvSpPr/>
          <p:nvPr/>
        </p:nvSpPr>
        <p:spPr>
          <a:xfrm>
            <a:off x="3386715" y="735023"/>
            <a:ext cx="170453" cy="170453"/>
          </a:xfrm>
          <a:custGeom>
            <a:avLst/>
            <a:gdLst/>
            <a:ahLst/>
            <a:cxnLst/>
            <a:rect l="l" t="t" r="r" b="b"/>
            <a:pathLst>
              <a:path w="170453" h="170453">
                <a:moveTo>
                  <a:pt x="0" y="0"/>
                </a:moveTo>
                <a:lnTo>
                  <a:pt x="170453" y="0"/>
                </a:lnTo>
                <a:lnTo>
                  <a:pt x="170453" y="170452"/>
                </a:lnTo>
                <a:lnTo>
                  <a:pt x="0" y="17045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4" name="Freeform 14"/>
          <p:cNvSpPr/>
          <p:nvPr/>
        </p:nvSpPr>
        <p:spPr>
          <a:xfrm>
            <a:off x="633631" y="2512568"/>
            <a:ext cx="6620777" cy="2706466"/>
          </a:xfrm>
          <a:custGeom>
            <a:avLst/>
            <a:gdLst/>
            <a:ahLst/>
            <a:cxnLst/>
            <a:rect l="l" t="t" r="r" b="b"/>
            <a:pathLst>
              <a:path w="6620777" h="2706466">
                <a:moveTo>
                  <a:pt x="0" y="0"/>
                </a:moveTo>
                <a:lnTo>
                  <a:pt x="6620777" y="0"/>
                </a:lnTo>
                <a:lnTo>
                  <a:pt x="6620777" y="2706467"/>
                </a:lnTo>
                <a:lnTo>
                  <a:pt x="0" y="2706467"/>
                </a:lnTo>
                <a:lnTo>
                  <a:pt x="0" y="0"/>
                </a:lnTo>
                <a:close/>
              </a:path>
            </a:pathLst>
          </a:custGeom>
          <a:blipFill>
            <a:blip r:embed="rId7"/>
            <a:stretch>
              <a:fillRect/>
            </a:stretch>
          </a:blipFill>
        </p:spPr>
      </p:sp>
      <p:sp>
        <p:nvSpPr>
          <p:cNvPr id="15" name="Freeform 15"/>
          <p:cNvSpPr/>
          <p:nvPr/>
        </p:nvSpPr>
        <p:spPr>
          <a:xfrm>
            <a:off x="12112848" y="5807162"/>
            <a:ext cx="4625618" cy="4122530"/>
          </a:xfrm>
          <a:custGeom>
            <a:avLst/>
            <a:gdLst/>
            <a:ahLst/>
            <a:cxnLst/>
            <a:rect l="l" t="t" r="r" b="b"/>
            <a:pathLst>
              <a:path w="4625618" h="4122530">
                <a:moveTo>
                  <a:pt x="0" y="0"/>
                </a:moveTo>
                <a:lnTo>
                  <a:pt x="4625619" y="0"/>
                </a:lnTo>
                <a:lnTo>
                  <a:pt x="4625619" y="4122530"/>
                </a:lnTo>
                <a:lnTo>
                  <a:pt x="0" y="4122530"/>
                </a:lnTo>
                <a:lnTo>
                  <a:pt x="0" y="0"/>
                </a:lnTo>
                <a:close/>
              </a:path>
            </a:pathLst>
          </a:custGeom>
          <a:blipFill>
            <a:blip r:embed="rId8"/>
            <a:stretch>
              <a:fillRect/>
            </a:stretch>
          </a:blipFill>
        </p:spPr>
      </p:sp>
      <p:sp>
        <p:nvSpPr>
          <p:cNvPr id="16" name="Freeform 16"/>
          <p:cNvSpPr/>
          <p:nvPr/>
        </p:nvSpPr>
        <p:spPr>
          <a:xfrm>
            <a:off x="633631" y="5807162"/>
            <a:ext cx="11102882" cy="4122530"/>
          </a:xfrm>
          <a:custGeom>
            <a:avLst/>
            <a:gdLst/>
            <a:ahLst/>
            <a:cxnLst/>
            <a:rect l="l" t="t" r="r" b="b"/>
            <a:pathLst>
              <a:path w="11102882" h="4122530">
                <a:moveTo>
                  <a:pt x="0" y="0"/>
                </a:moveTo>
                <a:lnTo>
                  <a:pt x="11102882" y="0"/>
                </a:lnTo>
                <a:lnTo>
                  <a:pt x="11102882" y="4122530"/>
                </a:lnTo>
                <a:lnTo>
                  <a:pt x="0" y="4122530"/>
                </a:lnTo>
                <a:lnTo>
                  <a:pt x="0" y="0"/>
                </a:lnTo>
                <a:close/>
              </a:path>
            </a:pathLst>
          </a:custGeom>
          <a:blipFill>
            <a:blip r:embed="rId9"/>
            <a:stretch>
              <a:fillRect/>
            </a:stretch>
          </a:blipFill>
        </p:spPr>
      </p:sp>
      <p:sp>
        <p:nvSpPr>
          <p:cNvPr id="17" name="TextBox 17"/>
          <p:cNvSpPr txBox="1"/>
          <p:nvPr/>
        </p:nvSpPr>
        <p:spPr>
          <a:xfrm>
            <a:off x="1168894" y="1321331"/>
            <a:ext cx="16126021" cy="819762"/>
          </a:xfrm>
          <a:prstGeom prst="rect">
            <a:avLst/>
          </a:prstGeom>
        </p:spPr>
        <p:txBody>
          <a:bodyPr lIns="0" tIns="0" rIns="0" bIns="0" rtlCol="0" anchor="t">
            <a:spAutoFit/>
          </a:bodyPr>
          <a:lstStyle/>
          <a:p>
            <a:pPr algn="l">
              <a:lnSpc>
                <a:spcPts val="5792"/>
              </a:lnSpc>
            </a:pPr>
            <a:r>
              <a:rPr lang="en-US" sz="6895">
                <a:solidFill>
                  <a:srgbClr val="DEF0FF"/>
                </a:solidFill>
                <a:latin typeface="RQND Pro UltraWide"/>
                <a:ea typeface="RQND Pro UltraWide"/>
                <a:cs typeface="RQND Pro UltraWide"/>
                <a:sym typeface="RQND Pro UltraWide"/>
              </a:rPr>
              <a:t>Evaluasi Model Terbaik (S2)</a:t>
            </a:r>
          </a:p>
        </p:txBody>
      </p:sp>
      <p:sp>
        <p:nvSpPr>
          <p:cNvPr id="18" name="TextBox 18"/>
          <p:cNvSpPr txBox="1"/>
          <p:nvPr/>
        </p:nvSpPr>
        <p:spPr>
          <a:xfrm>
            <a:off x="7630381" y="2345353"/>
            <a:ext cx="9108086" cy="3209925"/>
          </a:xfrm>
          <a:prstGeom prst="rect">
            <a:avLst/>
          </a:prstGeom>
        </p:spPr>
        <p:txBody>
          <a:bodyPr lIns="0" tIns="0" rIns="0" bIns="0" rtlCol="0" anchor="t">
            <a:spAutoFit/>
          </a:bodyPr>
          <a:lstStyle/>
          <a:p>
            <a:pPr algn="just">
              <a:lnSpc>
                <a:spcPts val="2100"/>
              </a:lnSpc>
            </a:pPr>
            <a:r>
              <a:rPr lang="en-US" sz="1500" spc="-60">
                <a:solidFill>
                  <a:srgbClr val="DEF0FF"/>
                </a:solidFill>
                <a:latin typeface="Telegraf"/>
                <a:ea typeface="Telegraf"/>
                <a:cs typeface="Telegraf"/>
                <a:sym typeface="Telegraf"/>
              </a:rPr>
              <a:t>Classification report</a:t>
            </a:r>
          </a:p>
          <a:p>
            <a:pPr algn="just">
              <a:lnSpc>
                <a:spcPts val="2100"/>
              </a:lnSpc>
            </a:pPr>
            <a:r>
              <a:rPr lang="en-US" sz="1500" spc="-60">
                <a:solidFill>
                  <a:srgbClr val="DEF0FF"/>
                </a:solidFill>
                <a:latin typeface="Telegraf"/>
                <a:ea typeface="Telegraf"/>
                <a:cs typeface="Telegraf"/>
                <a:sym typeface="Telegraf"/>
              </a:rPr>
              <a:t>Precision, recall, dan F1 di atas 0,98 untuk semua kelas. Kelas Anthracnose dan Leaf Curl Disease mencapai 1,00. Recall Cercospora 0,9818 (54 dari 55), precision Fresh Leaf 0,9846 (64 dari 65 prediksi).</a:t>
            </a:r>
          </a:p>
          <a:p>
            <a:pPr algn="just">
              <a:lnSpc>
                <a:spcPts val="2100"/>
              </a:lnSpc>
            </a:pPr>
            <a:r>
              <a:rPr lang="en-US" sz="1500" spc="-60">
                <a:solidFill>
                  <a:srgbClr val="DEF0FF"/>
                </a:solidFill>
                <a:latin typeface="Telegraf"/>
                <a:ea typeface="Telegraf"/>
                <a:cs typeface="Telegraf"/>
                <a:sym typeface="Telegraf"/>
              </a:rPr>
              <a:t>Confusion matrix</a:t>
            </a:r>
          </a:p>
          <a:p>
            <a:pPr algn="just">
              <a:lnSpc>
                <a:spcPts val="2100"/>
              </a:lnSpc>
            </a:pPr>
            <a:r>
              <a:rPr lang="en-US" sz="1500" spc="-60">
                <a:solidFill>
                  <a:srgbClr val="DEF0FF"/>
                </a:solidFill>
                <a:latin typeface="Telegraf"/>
                <a:ea typeface="Telegraf"/>
                <a:cs typeface="Telegraf"/>
                <a:sym typeface="Telegraf"/>
              </a:rPr>
              <a:t>Hanya satu kesalahan dari 222 data uji: satu citra Cercospora Leaf Spot terprediksi sebagai Fresh Leaf. Tiga kelas lain tidak memiliki kesalahan.</a:t>
            </a:r>
          </a:p>
          <a:p>
            <a:pPr algn="just">
              <a:lnSpc>
                <a:spcPts val="2100"/>
              </a:lnSpc>
            </a:pPr>
            <a:r>
              <a:rPr lang="en-US" sz="1500" spc="-60">
                <a:solidFill>
                  <a:srgbClr val="DEF0FF"/>
                </a:solidFill>
                <a:latin typeface="Telegraf"/>
                <a:ea typeface="Telegraf"/>
                <a:cs typeface="Telegraf"/>
                <a:sym typeface="Telegraf"/>
              </a:rPr>
              <a:t>Kurva ROC multikelas</a:t>
            </a:r>
          </a:p>
          <a:p>
            <a:pPr algn="just">
              <a:lnSpc>
                <a:spcPts val="2100"/>
              </a:lnSpc>
            </a:pPr>
            <a:r>
              <a:rPr lang="en-US" sz="1500" spc="-60">
                <a:solidFill>
                  <a:srgbClr val="DEF0FF"/>
                </a:solidFill>
                <a:latin typeface="Telegraf"/>
                <a:ea typeface="Telegraf"/>
                <a:cs typeface="Telegraf"/>
                <a:sym typeface="Telegraf"/>
              </a:rPr>
              <a:t>Kurva keempat kelas menempel di sudut kiri atas. AUC: Anthracnose 1,0000, Leaf Curl 1,0000, Cercospora 0,9998, Fresh Leaf 0,9998.</a:t>
            </a:r>
          </a:p>
          <a:p>
            <a:pPr algn="just">
              <a:lnSpc>
                <a:spcPts val="2100"/>
              </a:lnSpc>
            </a:pPr>
            <a:r>
              <a:rPr lang="en-US" sz="1500" spc="-60">
                <a:solidFill>
                  <a:srgbClr val="DEF0FF"/>
                </a:solidFill>
                <a:latin typeface="Telegraf"/>
                <a:ea typeface="Telegraf"/>
                <a:cs typeface="Telegraf"/>
                <a:sym typeface="Telegraf"/>
              </a:rPr>
              <a:t>ROC zoom-in</a:t>
            </a:r>
          </a:p>
          <a:p>
            <a:pPr algn="just">
              <a:lnSpc>
                <a:spcPts val="2100"/>
              </a:lnSpc>
              <a:spcBef>
                <a:spcPct val="0"/>
              </a:spcBef>
            </a:pPr>
            <a:r>
              <a:rPr lang="en-US" sz="1500" spc="-60">
                <a:solidFill>
                  <a:srgbClr val="DEF0FF"/>
                </a:solidFill>
                <a:latin typeface="Telegraf"/>
                <a:ea typeface="Telegraf"/>
                <a:cs typeface="Telegraf"/>
                <a:sym typeface="Telegraf"/>
              </a:rPr>
              <a:t>Perbesaran sudut kiri atas (FPR 0 sampai 0,1). Hanya kurva Cercospora dan Fresh Leaf yang terlihat sedikit di bawah 1,0 pada FPR sangat kecil, yaitu sekitar 0,01. Itu sesuai dengan satu kesalahan di confusion matrix.</a:t>
            </a:r>
          </a:p>
        </p:txBody>
      </p:sp>
      <p:sp>
        <p:nvSpPr>
          <p:cNvPr id="19" name="TextBox 19"/>
          <p:cNvSpPr txBox="1"/>
          <p:nvPr/>
        </p:nvSpPr>
        <p:spPr>
          <a:xfrm>
            <a:off x="15742113" y="657054"/>
            <a:ext cx="813226" cy="269306"/>
          </a:xfrm>
          <a:prstGeom prst="rect">
            <a:avLst/>
          </a:prstGeom>
        </p:spPr>
        <p:txBody>
          <a:bodyPr lIns="0" tIns="0" rIns="0" bIns="0" rtlCol="0" anchor="t">
            <a:spAutoFit/>
          </a:bodyPr>
          <a:lstStyle/>
          <a:p>
            <a:pPr algn="ctr">
              <a:lnSpc>
                <a:spcPts val="1960"/>
              </a:lnSpc>
              <a:spcBef>
                <a:spcPct val="0"/>
              </a:spcBef>
            </a:pPr>
            <a:r>
              <a:rPr lang="en-US" sz="1400" spc="-56">
                <a:solidFill>
                  <a:srgbClr val="DEF0FF"/>
                </a:solidFill>
                <a:latin typeface="Telegraf"/>
                <a:ea typeface="Telegraf"/>
                <a:cs typeface="Telegraf"/>
                <a:sym typeface="Telegraf"/>
              </a:rPr>
              <a:t>Contact</a:t>
            </a:r>
          </a:p>
        </p:txBody>
      </p:sp>
      <p:sp>
        <p:nvSpPr>
          <p:cNvPr id="20" name="TextBox 20"/>
          <p:cNvSpPr txBox="1"/>
          <p:nvPr/>
        </p:nvSpPr>
        <p:spPr>
          <a:xfrm>
            <a:off x="6878436" y="657054"/>
            <a:ext cx="751945" cy="269240"/>
          </a:xfrm>
          <a:prstGeom prst="rect">
            <a:avLst/>
          </a:prstGeom>
        </p:spPr>
        <p:txBody>
          <a:bodyPr lIns="0" tIns="0" rIns="0" bIns="0" rtlCol="0" anchor="t">
            <a:spAutoFit/>
          </a:bodyPr>
          <a:lstStyle/>
          <a:p>
            <a:pPr algn="ctr">
              <a:lnSpc>
                <a:spcPts val="1960"/>
              </a:lnSpc>
              <a:spcBef>
                <a:spcPct val="0"/>
              </a:spcBef>
            </a:pPr>
            <a:r>
              <a:rPr lang="en-US" sz="1400" b="1" spc="-56">
                <a:solidFill>
                  <a:srgbClr val="DEF0FF"/>
                </a:solidFill>
                <a:latin typeface="Telegraf Bold"/>
                <a:ea typeface="Telegraf Bold"/>
                <a:cs typeface="Telegraf Bold"/>
                <a:sym typeface="Telegraf Bold"/>
              </a:rPr>
              <a:t>Home</a:t>
            </a:r>
          </a:p>
        </p:txBody>
      </p:sp>
      <p:sp>
        <p:nvSpPr>
          <p:cNvPr id="21" name="TextBox 21"/>
          <p:cNvSpPr txBox="1"/>
          <p:nvPr/>
        </p:nvSpPr>
        <p:spPr>
          <a:xfrm>
            <a:off x="7967106" y="657054"/>
            <a:ext cx="928073"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Services</a:t>
            </a:r>
          </a:p>
        </p:txBody>
      </p:sp>
      <p:sp>
        <p:nvSpPr>
          <p:cNvPr id="22" name="TextBox 22"/>
          <p:cNvSpPr txBox="1"/>
          <p:nvPr/>
        </p:nvSpPr>
        <p:spPr>
          <a:xfrm>
            <a:off x="10486033" y="657054"/>
            <a:ext cx="923532"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About Us</a:t>
            </a:r>
          </a:p>
        </p:txBody>
      </p:sp>
      <p:sp>
        <p:nvSpPr>
          <p:cNvPr id="23" name="TextBox 23"/>
          <p:cNvSpPr txBox="1"/>
          <p:nvPr/>
        </p:nvSpPr>
        <p:spPr>
          <a:xfrm>
            <a:off x="9231904" y="657054"/>
            <a:ext cx="917404"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Features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grpSp>
        <p:nvGrpSpPr>
          <p:cNvPr id="3" name="Group 3"/>
          <p:cNvGrpSpPr/>
          <p:nvPr/>
        </p:nvGrpSpPr>
        <p:grpSpPr>
          <a:xfrm>
            <a:off x="7044950" y="2082993"/>
            <a:ext cx="10758639" cy="2174239"/>
            <a:chOff x="0" y="0"/>
            <a:chExt cx="3841721" cy="776383"/>
          </a:xfrm>
        </p:grpSpPr>
        <p:sp>
          <p:nvSpPr>
            <p:cNvPr id="4" name="Freeform 4"/>
            <p:cNvSpPr/>
            <p:nvPr/>
          </p:nvSpPr>
          <p:spPr>
            <a:xfrm>
              <a:off x="0" y="0"/>
              <a:ext cx="3841721" cy="776383"/>
            </a:xfrm>
            <a:custGeom>
              <a:avLst/>
              <a:gdLst/>
              <a:ahLst/>
              <a:cxnLst/>
              <a:rect l="l" t="t" r="r" b="b"/>
              <a:pathLst>
                <a:path w="3841721" h="776383">
                  <a:moveTo>
                    <a:pt x="3681701" y="0"/>
                  </a:moveTo>
                  <a:lnTo>
                    <a:pt x="160020" y="0"/>
                  </a:lnTo>
                  <a:lnTo>
                    <a:pt x="0" y="160020"/>
                  </a:lnTo>
                  <a:lnTo>
                    <a:pt x="0" y="616363"/>
                  </a:lnTo>
                  <a:lnTo>
                    <a:pt x="160020" y="776383"/>
                  </a:lnTo>
                  <a:lnTo>
                    <a:pt x="3681701" y="776383"/>
                  </a:lnTo>
                  <a:lnTo>
                    <a:pt x="3841721" y="616363"/>
                  </a:lnTo>
                  <a:lnTo>
                    <a:pt x="3841721" y="160020"/>
                  </a:lnTo>
                  <a:lnTo>
                    <a:pt x="3681701" y="0"/>
                  </a:lnTo>
                  <a:close/>
                </a:path>
              </a:pathLst>
            </a:custGeom>
            <a:ln w="9525" cap="sq">
              <a:solidFill>
                <a:srgbClr val="DEF0FF">
                  <a:alpha val="49804"/>
                </a:srgbClr>
              </a:solidFill>
              <a:prstDash val="solid"/>
              <a:miter/>
            </a:ln>
          </p:spPr>
        </p:sp>
        <p:sp>
          <p:nvSpPr>
            <p:cNvPr id="5" name="TextBox 5"/>
            <p:cNvSpPr txBox="1"/>
            <p:nvPr/>
          </p:nvSpPr>
          <p:spPr>
            <a:xfrm>
              <a:off x="63500" y="6350"/>
              <a:ext cx="3714721" cy="706533"/>
            </a:xfrm>
            <a:prstGeom prst="rect">
              <a:avLst/>
            </a:prstGeom>
          </p:spPr>
          <p:txBody>
            <a:bodyPr lIns="50800" tIns="50800" rIns="50800" bIns="50800" rtlCol="0" anchor="ctr"/>
            <a:lstStyle/>
            <a:p>
              <a:pPr algn="ctr">
                <a:lnSpc>
                  <a:spcPts val="1960"/>
                </a:lnSpc>
              </a:pPr>
              <a:endParaRPr/>
            </a:p>
          </p:txBody>
        </p:sp>
      </p:grpSp>
      <p:grpSp>
        <p:nvGrpSpPr>
          <p:cNvPr id="6" name="Group 6"/>
          <p:cNvGrpSpPr/>
          <p:nvPr/>
        </p:nvGrpSpPr>
        <p:grpSpPr>
          <a:xfrm>
            <a:off x="1028700" y="125219"/>
            <a:ext cx="2704510" cy="416836"/>
            <a:chOff x="0" y="0"/>
            <a:chExt cx="712299" cy="109784"/>
          </a:xfrm>
        </p:grpSpPr>
        <p:sp>
          <p:nvSpPr>
            <p:cNvPr id="7" name="Freeform 7"/>
            <p:cNvSpPr/>
            <p:nvPr/>
          </p:nvSpPr>
          <p:spPr>
            <a:xfrm>
              <a:off x="0" y="0"/>
              <a:ext cx="712299" cy="109784"/>
            </a:xfrm>
            <a:custGeom>
              <a:avLst/>
              <a:gdLst/>
              <a:ahLst/>
              <a:cxnLst/>
              <a:rect l="l" t="t" r="r" b="b"/>
              <a:pathLst>
                <a:path w="712299" h="109784">
                  <a:moveTo>
                    <a:pt x="54892" y="0"/>
                  </a:moveTo>
                  <a:lnTo>
                    <a:pt x="657407" y="0"/>
                  </a:lnTo>
                  <a:cubicBezTo>
                    <a:pt x="671965" y="0"/>
                    <a:pt x="685927" y="5783"/>
                    <a:pt x="696221" y="16077"/>
                  </a:cubicBezTo>
                  <a:cubicBezTo>
                    <a:pt x="706516" y="26372"/>
                    <a:pt x="712299" y="40334"/>
                    <a:pt x="712299" y="54892"/>
                  </a:cubicBezTo>
                  <a:lnTo>
                    <a:pt x="712299" y="54892"/>
                  </a:lnTo>
                  <a:cubicBezTo>
                    <a:pt x="712299" y="85208"/>
                    <a:pt x="687723" y="109784"/>
                    <a:pt x="657407"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ln w="9525" cap="rnd">
              <a:solidFill>
                <a:srgbClr val="FFFFFF">
                  <a:alpha val="49804"/>
                </a:srgbClr>
              </a:solidFill>
              <a:prstDash val="solid"/>
              <a:round/>
            </a:ln>
          </p:spPr>
        </p:sp>
        <p:sp>
          <p:nvSpPr>
            <p:cNvPr id="8" name="TextBox 8"/>
            <p:cNvSpPr txBox="1"/>
            <p:nvPr/>
          </p:nvSpPr>
          <p:spPr>
            <a:xfrm>
              <a:off x="0" y="-38100"/>
              <a:ext cx="712299" cy="147884"/>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5558984" y="125219"/>
            <a:ext cx="1179483" cy="416836"/>
            <a:chOff x="0" y="0"/>
            <a:chExt cx="310646" cy="109784"/>
          </a:xfrm>
        </p:grpSpPr>
        <p:sp>
          <p:nvSpPr>
            <p:cNvPr id="10" name="Freeform 10"/>
            <p:cNvSpPr/>
            <p:nvPr/>
          </p:nvSpPr>
          <p:spPr>
            <a:xfrm>
              <a:off x="0" y="0"/>
              <a:ext cx="310646" cy="109784"/>
            </a:xfrm>
            <a:custGeom>
              <a:avLst/>
              <a:gdLst/>
              <a:ahLst/>
              <a:cxnLst/>
              <a:rect l="l" t="t" r="r" b="b"/>
              <a:pathLst>
                <a:path w="310646" h="109784">
                  <a:moveTo>
                    <a:pt x="54892" y="0"/>
                  </a:moveTo>
                  <a:lnTo>
                    <a:pt x="255754" y="0"/>
                  </a:lnTo>
                  <a:cubicBezTo>
                    <a:pt x="286070" y="0"/>
                    <a:pt x="310646" y="24576"/>
                    <a:pt x="310646" y="54892"/>
                  </a:cubicBezTo>
                  <a:lnTo>
                    <a:pt x="310646" y="54892"/>
                  </a:lnTo>
                  <a:cubicBezTo>
                    <a:pt x="310646" y="69450"/>
                    <a:pt x="304862" y="83412"/>
                    <a:pt x="294568" y="93706"/>
                  </a:cubicBezTo>
                  <a:cubicBezTo>
                    <a:pt x="284274" y="104001"/>
                    <a:pt x="270312" y="109784"/>
                    <a:pt x="255754"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ln w="9525" cap="rnd">
              <a:solidFill>
                <a:srgbClr val="FFFFFF">
                  <a:alpha val="49804"/>
                </a:srgbClr>
              </a:solidFill>
              <a:prstDash val="solid"/>
              <a:round/>
            </a:ln>
          </p:spPr>
        </p:sp>
        <p:sp>
          <p:nvSpPr>
            <p:cNvPr id="11" name="TextBox 11"/>
            <p:cNvSpPr txBox="1"/>
            <p:nvPr/>
          </p:nvSpPr>
          <p:spPr>
            <a:xfrm>
              <a:off x="0" y="-38100"/>
              <a:ext cx="310646" cy="14788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p:cNvGrpSpPr/>
          <p:nvPr/>
        </p:nvGrpSpPr>
        <p:grpSpPr>
          <a:xfrm>
            <a:off x="16842464" y="125219"/>
            <a:ext cx="416836" cy="416836"/>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ln w="9525" cap="rnd">
              <a:solidFill>
                <a:srgbClr val="FFFFFF">
                  <a:alpha val="49804"/>
                </a:srgbClr>
              </a:solidFill>
              <a:prstDash val="solid"/>
              <a:round/>
            </a:ln>
          </p:spPr>
        </p:sp>
        <p:sp>
          <p:nvSpPr>
            <p:cNvPr id="14" name="TextBox 14"/>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5" name="Freeform 15"/>
          <p:cNvSpPr/>
          <p:nvPr/>
        </p:nvSpPr>
        <p:spPr>
          <a:xfrm>
            <a:off x="16954260" y="269263"/>
            <a:ext cx="193244" cy="128749"/>
          </a:xfrm>
          <a:custGeom>
            <a:avLst/>
            <a:gdLst/>
            <a:ahLst/>
            <a:cxnLst/>
            <a:rect l="l" t="t" r="r" b="b"/>
            <a:pathLst>
              <a:path w="193244" h="128749">
                <a:moveTo>
                  <a:pt x="0" y="0"/>
                </a:moveTo>
                <a:lnTo>
                  <a:pt x="193244" y="0"/>
                </a:lnTo>
                <a:lnTo>
                  <a:pt x="193244" y="128749"/>
                </a:lnTo>
                <a:lnTo>
                  <a:pt x="0" y="1287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6" name="Freeform 16"/>
          <p:cNvSpPr/>
          <p:nvPr/>
        </p:nvSpPr>
        <p:spPr>
          <a:xfrm>
            <a:off x="3386715" y="248378"/>
            <a:ext cx="170453" cy="170453"/>
          </a:xfrm>
          <a:custGeom>
            <a:avLst/>
            <a:gdLst/>
            <a:ahLst/>
            <a:cxnLst/>
            <a:rect l="l" t="t" r="r" b="b"/>
            <a:pathLst>
              <a:path w="170453" h="170453">
                <a:moveTo>
                  <a:pt x="0" y="0"/>
                </a:moveTo>
                <a:lnTo>
                  <a:pt x="170453" y="0"/>
                </a:lnTo>
                <a:lnTo>
                  <a:pt x="170453" y="170452"/>
                </a:lnTo>
                <a:lnTo>
                  <a:pt x="0" y="17045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7" name="Freeform 17"/>
          <p:cNvSpPr/>
          <p:nvPr/>
        </p:nvSpPr>
        <p:spPr>
          <a:xfrm>
            <a:off x="405325" y="2402398"/>
            <a:ext cx="6303685" cy="7215882"/>
          </a:xfrm>
          <a:custGeom>
            <a:avLst/>
            <a:gdLst/>
            <a:ahLst/>
            <a:cxnLst/>
            <a:rect l="l" t="t" r="r" b="b"/>
            <a:pathLst>
              <a:path w="6303685" h="7215882">
                <a:moveTo>
                  <a:pt x="0" y="0"/>
                </a:moveTo>
                <a:lnTo>
                  <a:pt x="6303685" y="0"/>
                </a:lnTo>
                <a:lnTo>
                  <a:pt x="6303685" y="7215882"/>
                </a:lnTo>
                <a:lnTo>
                  <a:pt x="0" y="7215882"/>
                </a:lnTo>
                <a:lnTo>
                  <a:pt x="0" y="0"/>
                </a:lnTo>
                <a:close/>
              </a:path>
            </a:pathLst>
          </a:custGeom>
          <a:blipFill>
            <a:blip r:embed="rId7"/>
            <a:stretch>
              <a:fillRect/>
            </a:stretch>
          </a:blipFill>
        </p:spPr>
      </p:sp>
      <p:sp>
        <p:nvSpPr>
          <p:cNvPr id="18" name="Freeform 18"/>
          <p:cNvSpPr/>
          <p:nvPr/>
        </p:nvSpPr>
        <p:spPr>
          <a:xfrm>
            <a:off x="7044950" y="5009153"/>
            <a:ext cx="8134095" cy="2671704"/>
          </a:xfrm>
          <a:custGeom>
            <a:avLst/>
            <a:gdLst/>
            <a:ahLst/>
            <a:cxnLst/>
            <a:rect l="l" t="t" r="r" b="b"/>
            <a:pathLst>
              <a:path w="8134095" h="2671704">
                <a:moveTo>
                  <a:pt x="0" y="0"/>
                </a:moveTo>
                <a:lnTo>
                  <a:pt x="8134095" y="0"/>
                </a:lnTo>
                <a:lnTo>
                  <a:pt x="8134095" y="2671704"/>
                </a:lnTo>
                <a:lnTo>
                  <a:pt x="0" y="2671704"/>
                </a:lnTo>
                <a:lnTo>
                  <a:pt x="0" y="0"/>
                </a:lnTo>
                <a:close/>
              </a:path>
            </a:pathLst>
          </a:custGeom>
          <a:blipFill>
            <a:blip r:embed="rId8"/>
            <a:stretch>
              <a:fillRect/>
            </a:stretch>
          </a:blipFill>
        </p:spPr>
      </p:sp>
      <p:sp>
        <p:nvSpPr>
          <p:cNvPr id="19" name="TextBox 19"/>
          <p:cNvSpPr txBox="1"/>
          <p:nvPr/>
        </p:nvSpPr>
        <p:spPr>
          <a:xfrm>
            <a:off x="4352553" y="723030"/>
            <a:ext cx="10064929" cy="1209151"/>
          </a:xfrm>
          <a:prstGeom prst="rect">
            <a:avLst/>
          </a:prstGeom>
        </p:spPr>
        <p:txBody>
          <a:bodyPr lIns="0" tIns="0" rIns="0" bIns="0" rtlCol="0" anchor="t">
            <a:spAutoFit/>
          </a:bodyPr>
          <a:lstStyle/>
          <a:p>
            <a:pPr algn="ctr">
              <a:lnSpc>
                <a:spcPts val="4540"/>
              </a:lnSpc>
            </a:pPr>
            <a:r>
              <a:rPr lang="en-US" sz="5405">
                <a:solidFill>
                  <a:srgbClr val="DEF0FF"/>
                </a:solidFill>
                <a:latin typeface="RQND Pro UltraWide"/>
                <a:ea typeface="RQND Pro UltraWide"/>
                <a:cs typeface="RQND Pro UltraWide"/>
                <a:sym typeface="RQND Pro UltraWide"/>
              </a:rPr>
              <a:t>Learning Curve dan Uji Ketahanan</a:t>
            </a:r>
          </a:p>
        </p:txBody>
      </p:sp>
      <p:sp>
        <p:nvSpPr>
          <p:cNvPr id="20" name="TextBox 20"/>
          <p:cNvSpPr txBox="1"/>
          <p:nvPr/>
        </p:nvSpPr>
        <p:spPr>
          <a:xfrm>
            <a:off x="7254408" y="2364651"/>
            <a:ext cx="10004892" cy="1592580"/>
          </a:xfrm>
          <a:prstGeom prst="rect">
            <a:avLst/>
          </a:prstGeom>
        </p:spPr>
        <p:txBody>
          <a:bodyPr lIns="0" tIns="0" rIns="0" bIns="0" rtlCol="0" anchor="t">
            <a:spAutoFit/>
          </a:bodyPr>
          <a:lstStyle/>
          <a:p>
            <a:pPr marL="388620" lvl="1" indent="-194310" algn="just">
              <a:lnSpc>
                <a:spcPts val="2520"/>
              </a:lnSpc>
              <a:buFont typeface="Arial"/>
              <a:buChar char="•"/>
            </a:pPr>
            <a:r>
              <a:rPr lang="en-US" sz="1800" spc="-72">
                <a:solidFill>
                  <a:srgbClr val="DEF0FF"/>
                </a:solidFill>
                <a:latin typeface="Telegraf"/>
                <a:ea typeface="Telegraf"/>
                <a:cs typeface="Telegraf"/>
                <a:sym typeface="Telegraf"/>
              </a:rPr>
              <a:t>S2 konvergen paling cepat dan stabil. S3 berfluktuasi pada val loss, S4 naik bertahap dan mendatar setelah fine-tuning, dan S1 belum konvergen pada 15 epoch.</a:t>
            </a:r>
          </a:p>
          <a:p>
            <a:pPr marL="388620" lvl="1" indent="-194310" algn="just">
              <a:lnSpc>
                <a:spcPts val="2520"/>
              </a:lnSpc>
              <a:buFont typeface="Arial"/>
              <a:buChar char="•"/>
            </a:pPr>
            <a:r>
              <a:rPr lang="en-US" sz="1800" spc="-72">
                <a:solidFill>
                  <a:srgbClr val="DEF0FF"/>
                </a:solidFill>
                <a:latin typeface="Telegraf"/>
                <a:ea typeface="Telegraf"/>
                <a:cs typeface="Telegraf"/>
                <a:sym typeface="Telegraf"/>
              </a:rPr>
              <a:t>Tidak ada overfitting besar: selisih akurasi train dan validasi di bawah 4% pada semua skenario</a:t>
            </a:r>
          </a:p>
          <a:p>
            <a:pPr marL="388620" lvl="1" indent="-194310" algn="just">
              <a:lnSpc>
                <a:spcPts val="2520"/>
              </a:lnSpc>
              <a:buFont typeface="Arial"/>
              <a:buChar char="•"/>
            </a:pPr>
            <a:r>
              <a:rPr lang="en-US" sz="1800" spc="-72">
                <a:solidFill>
                  <a:srgbClr val="DEF0FF"/>
                </a:solidFill>
                <a:latin typeface="Telegraf"/>
                <a:ea typeface="Telegraf"/>
                <a:cs typeface="Telegraf"/>
                <a:sym typeface="Telegraf"/>
              </a:rPr>
              <a:t>Val loss S3 naik-turun, dan model yang diuji memakai bobot epoch terakhir</a:t>
            </a:r>
          </a:p>
          <a:p>
            <a:pPr marL="388620" lvl="1" indent="-194310" algn="just">
              <a:lnSpc>
                <a:spcPts val="2520"/>
              </a:lnSpc>
              <a:spcBef>
                <a:spcPct val="0"/>
              </a:spcBef>
              <a:buFont typeface="Arial"/>
              <a:buChar char="•"/>
            </a:pPr>
            <a:r>
              <a:rPr lang="en-US" sz="1800" spc="-72">
                <a:solidFill>
                  <a:srgbClr val="DEF0FF"/>
                </a:solidFill>
                <a:latin typeface="Telegraf"/>
                <a:ea typeface="Telegraf"/>
                <a:cs typeface="Telegraf"/>
                <a:sym typeface="Telegraf"/>
              </a:rPr>
              <a:t>Garis putus-putus pada S4 menandai awal fine-tuning (setelah epoch 5)</a:t>
            </a:r>
          </a:p>
        </p:txBody>
      </p:sp>
      <p:sp>
        <p:nvSpPr>
          <p:cNvPr id="21" name="TextBox 21"/>
          <p:cNvSpPr txBox="1"/>
          <p:nvPr/>
        </p:nvSpPr>
        <p:spPr>
          <a:xfrm>
            <a:off x="15742113" y="170409"/>
            <a:ext cx="813226" cy="269306"/>
          </a:xfrm>
          <a:prstGeom prst="rect">
            <a:avLst/>
          </a:prstGeom>
        </p:spPr>
        <p:txBody>
          <a:bodyPr lIns="0" tIns="0" rIns="0" bIns="0" rtlCol="0" anchor="t">
            <a:spAutoFit/>
          </a:bodyPr>
          <a:lstStyle/>
          <a:p>
            <a:pPr algn="ctr">
              <a:lnSpc>
                <a:spcPts val="1960"/>
              </a:lnSpc>
              <a:spcBef>
                <a:spcPct val="0"/>
              </a:spcBef>
            </a:pPr>
            <a:r>
              <a:rPr lang="en-US" sz="1400" spc="-56">
                <a:solidFill>
                  <a:srgbClr val="DEF0FF"/>
                </a:solidFill>
                <a:latin typeface="Telegraf"/>
                <a:ea typeface="Telegraf"/>
                <a:cs typeface="Telegraf"/>
                <a:sym typeface="Telegraf"/>
              </a:rPr>
              <a:t>Contact</a:t>
            </a:r>
          </a:p>
        </p:txBody>
      </p:sp>
      <p:sp>
        <p:nvSpPr>
          <p:cNvPr id="22" name="TextBox 22"/>
          <p:cNvSpPr txBox="1"/>
          <p:nvPr/>
        </p:nvSpPr>
        <p:spPr>
          <a:xfrm>
            <a:off x="6878436" y="170409"/>
            <a:ext cx="751945" cy="269240"/>
          </a:xfrm>
          <a:prstGeom prst="rect">
            <a:avLst/>
          </a:prstGeom>
        </p:spPr>
        <p:txBody>
          <a:bodyPr lIns="0" tIns="0" rIns="0" bIns="0" rtlCol="0" anchor="t">
            <a:spAutoFit/>
          </a:bodyPr>
          <a:lstStyle/>
          <a:p>
            <a:pPr algn="ctr">
              <a:lnSpc>
                <a:spcPts val="1960"/>
              </a:lnSpc>
              <a:spcBef>
                <a:spcPct val="0"/>
              </a:spcBef>
            </a:pPr>
            <a:r>
              <a:rPr lang="en-US" sz="1400" b="1" spc="-56">
                <a:solidFill>
                  <a:srgbClr val="DEF0FF"/>
                </a:solidFill>
                <a:latin typeface="Telegraf Bold"/>
                <a:ea typeface="Telegraf Bold"/>
                <a:cs typeface="Telegraf Bold"/>
                <a:sym typeface="Telegraf Bold"/>
              </a:rPr>
              <a:t>Home</a:t>
            </a:r>
          </a:p>
        </p:txBody>
      </p:sp>
      <p:sp>
        <p:nvSpPr>
          <p:cNvPr id="23" name="TextBox 23"/>
          <p:cNvSpPr txBox="1"/>
          <p:nvPr/>
        </p:nvSpPr>
        <p:spPr>
          <a:xfrm>
            <a:off x="7967106" y="170409"/>
            <a:ext cx="928073"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Services</a:t>
            </a:r>
          </a:p>
        </p:txBody>
      </p:sp>
      <p:sp>
        <p:nvSpPr>
          <p:cNvPr id="24" name="TextBox 24"/>
          <p:cNvSpPr txBox="1"/>
          <p:nvPr/>
        </p:nvSpPr>
        <p:spPr>
          <a:xfrm>
            <a:off x="10486033" y="170409"/>
            <a:ext cx="923532"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About Us</a:t>
            </a:r>
          </a:p>
        </p:txBody>
      </p:sp>
      <p:sp>
        <p:nvSpPr>
          <p:cNvPr id="25" name="TextBox 25"/>
          <p:cNvSpPr txBox="1"/>
          <p:nvPr/>
        </p:nvSpPr>
        <p:spPr>
          <a:xfrm>
            <a:off x="9231904" y="170409"/>
            <a:ext cx="917404"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Features</a:t>
            </a:r>
          </a:p>
        </p:txBody>
      </p:sp>
      <p:sp>
        <p:nvSpPr>
          <p:cNvPr id="26" name="TextBox 26"/>
          <p:cNvSpPr txBox="1"/>
          <p:nvPr/>
        </p:nvSpPr>
        <p:spPr>
          <a:xfrm>
            <a:off x="405325" y="1855981"/>
            <a:ext cx="3611288" cy="337015"/>
          </a:xfrm>
          <a:prstGeom prst="rect">
            <a:avLst/>
          </a:prstGeom>
        </p:spPr>
        <p:txBody>
          <a:bodyPr wrap="square" lIns="0" tIns="0" rIns="0" bIns="0" rtlCol="0" anchor="t">
            <a:spAutoFit/>
          </a:bodyPr>
          <a:lstStyle/>
          <a:p>
            <a:pPr algn="ctr">
              <a:lnSpc>
                <a:spcPts val="2800"/>
              </a:lnSpc>
              <a:spcBef>
                <a:spcPct val="0"/>
              </a:spcBef>
            </a:pPr>
            <a:r>
              <a:rPr lang="en-US" sz="2000" spc="-80" dirty="0" err="1">
                <a:solidFill>
                  <a:srgbClr val="FFFFFF"/>
                </a:solidFill>
                <a:latin typeface="Telegraf"/>
                <a:ea typeface="Telegraf"/>
                <a:cs typeface="Telegraf"/>
                <a:sym typeface="Telegraf"/>
              </a:rPr>
              <a:t>Kurva</a:t>
            </a:r>
            <a:r>
              <a:rPr lang="en-US" sz="2000" spc="-80" dirty="0">
                <a:solidFill>
                  <a:srgbClr val="FFFFFF"/>
                </a:solidFill>
                <a:latin typeface="Telegraf"/>
                <a:ea typeface="Telegraf"/>
                <a:cs typeface="Telegraf"/>
                <a:sym typeface="Telegraf"/>
              </a:rPr>
              <a:t> </a:t>
            </a:r>
            <a:r>
              <a:rPr lang="en-US" sz="2000" spc="-80" dirty="0" err="1">
                <a:solidFill>
                  <a:srgbClr val="FFFFFF"/>
                </a:solidFill>
                <a:latin typeface="Telegraf"/>
                <a:ea typeface="Telegraf"/>
                <a:cs typeface="Telegraf"/>
                <a:sym typeface="Telegraf"/>
              </a:rPr>
              <a:t>Pelatihan</a:t>
            </a:r>
            <a:r>
              <a:rPr lang="en-US" sz="2000" spc="-80" dirty="0">
                <a:solidFill>
                  <a:srgbClr val="FFFFFF"/>
                </a:solidFill>
                <a:latin typeface="Telegraf"/>
                <a:ea typeface="Telegraf"/>
                <a:cs typeface="Telegraf"/>
                <a:sym typeface="Telegraf"/>
              </a:rPr>
              <a:t> </a:t>
            </a:r>
            <a:r>
              <a:rPr lang="en-US" sz="2000" spc="-80" dirty="0" err="1">
                <a:solidFill>
                  <a:srgbClr val="FFFFFF"/>
                </a:solidFill>
                <a:latin typeface="Telegraf"/>
                <a:ea typeface="Telegraf"/>
                <a:cs typeface="Telegraf"/>
                <a:sym typeface="Telegraf"/>
              </a:rPr>
              <a:t>Empat</a:t>
            </a:r>
            <a:r>
              <a:rPr lang="en-US" sz="2000" spc="-80" dirty="0">
                <a:solidFill>
                  <a:srgbClr val="FFFFFF"/>
                </a:solidFill>
                <a:latin typeface="Telegraf"/>
                <a:ea typeface="Telegraf"/>
                <a:cs typeface="Telegraf"/>
                <a:sym typeface="Telegraf"/>
              </a:rPr>
              <a:t> </a:t>
            </a:r>
            <a:r>
              <a:rPr lang="en-US" sz="2000" spc="-80" dirty="0" err="1">
                <a:solidFill>
                  <a:srgbClr val="FFFFFF"/>
                </a:solidFill>
                <a:latin typeface="Telegraf"/>
                <a:ea typeface="Telegraf"/>
                <a:cs typeface="Telegraf"/>
                <a:sym typeface="Telegraf"/>
              </a:rPr>
              <a:t>Skenario</a:t>
            </a:r>
            <a:endParaRPr lang="en-US" sz="2000" spc="-80" dirty="0">
              <a:solidFill>
                <a:srgbClr val="FFFFFF"/>
              </a:solidFill>
              <a:latin typeface="Telegraf"/>
              <a:ea typeface="Telegraf"/>
              <a:cs typeface="Telegraf"/>
              <a:sym typeface="Telegraf"/>
            </a:endParaRPr>
          </a:p>
        </p:txBody>
      </p:sp>
      <p:sp>
        <p:nvSpPr>
          <p:cNvPr id="27" name="TextBox 27"/>
          <p:cNvSpPr txBox="1"/>
          <p:nvPr/>
        </p:nvSpPr>
        <p:spPr>
          <a:xfrm>
            <a:off x="6878436" y="4502785"/>
            <a:ext cx="4364615" cy="337015"/>
          </a:xfrm>
          <a:prstGeom prst="rect">
            <a:avLst/>
          </a:prstGeom>
        </p:spPr>
        <p:txBody>
          <a:bodyPr wrap="square" lIns="0" tIns="0" rIns="0" bIns="0" rtlCol="0" anchor="t">
            <a:spAutoFit/>
          </a:bodyPr>
          <a:lstStyle/>
          <a:p>
            <a:pPr algn="ctr">
              <a:lnSpc>
                <a:spcPts val="2800"/>
              </a:lnSpc>
              <a:spcBef>
                <a:spcPct val="0"/>
              </a:spcBef>
            </a:pPr>
            <a:r>
              <a:rPr lang="en-US" sz="2000" spc="-80" dirty="0" err="1">
                <a:solidFill>
                  <a:srgbClr val="FFFFFF"/>
                </a:solidFill>
                <a:latin typeface="Telegraf"/>
                <a:ea typeface="Telegraf"/>
                <a:cs typeface="Telegraf"/>
                <a:sym typeface="Telegraf"/>
              </a:rPr>
              <a:t>Ketahanan</a:t>
            </a:r>
            <a:r>
              <a:rPr lang="en-US" sz="2000" spc="-80" dirty="0">
                <a:solidFill>
                  <a:srgbClr val="FFFFFF"/>
                </a:solidFill>
                <a:latin typeface="Telegraf"/>
                <a:ea typeface="Telegraf"/>
                <a:cs typeface="Telegraf"/>
                <a:sym typeface="Telegraf"/>
              </a:rPr>
              <a:t> </a:t>
            </a:r>
            <a:r>
              <a:rPr lang="en-US" sz="2000" spc="-80" dirty="0" err="1">
                <a:solidFill>
                  <a:srgbClr val="FFFFFF"/>
                </a:solidFill>
                <a:latin typeface="Telegraf"/>
                <a:ea typeface="Telegraf"/>
                <a:cs typeface="Telegraf"/>
                <a:sym typeface="Telegraf"/>
              </a:rPr>
              <a:t>terhadap</a:t>
            </a:r>
            <a:r>
              <a:rPr lang="en-US" sz="2000" spc="-80" dirty="0">
                <a:solidFill>
                  <a:srgbClr val="FFFFFF"/>
                </a:solidFill>
                <a:latin typeface="Telegraf"/>
                <a:ea typeface="Telegraf"/>
                <a:cs typeface="Telegraf"/>
                <a:sym typeface="Telegraf"/>
              </a:rPr>
              <a:t> </a:t>
            </a:r>
            <a:r>
              <a:rPr lang="en-US" sz="2000" spc="-80" dirty="0" err="1">
                <a:solidFill>
                  <a:srgbClr val="FFFFFF"/>
                </a:solidFill>
                <a:latin typeface="Telegraf"/>
                <a:ea typeface="Telegraf"/>
                <a:cs typeface="Telegraf"/>
                <a:sym typeface="Telegraf"/>
              </a:rPr>
              <a:t>Gangguan</a:t>
            </a:r>
            <a:r>
              <a:rPr lang="en-US" sz="2000" spc="-80" dirty="0">
                <a:solidFill>
                  <a:srgbClr val="FFFFFF"/>
                </a:solidFill>
                <a:latin typeface="Telegraf"/>
                <a:ea typeface="Telegraf"/>
                <a:cs typeface="Telegraf"/>
                <a:sym typeface="Telegraf"/>
              </a:rPr>
              <a:t> Citra</a:t>
            </a:r>
          </a:p>
        </p:txBody>
      </p:sp>
      <p:grpSp>
        <p:nvGrpSpPr>
          <p:cNvPr id="28" name="Group 28"/>
          <p:cNvGrpSpPr/>
          <p:nvPr/>
        </p:nvGrpSpPr>
        <p:grpSpPr>
          <a:xfrm>
            <a:off x="7044950" y="7785632"/>
            <a:ext cx="10758639" cy="2264401"/>
            <a:chOff x="0" y="0"/>
            <a:chExt cx="3841721" cy="808578"/>
          </a:xfrm>
        </p:grpSpPr>
        <p:sp>
          <p:nvSpPr>
            <p:cNvPr id="29" name="Freeform 29"/>
            <p:cNvSpPr/>
            <p:nvPr/>
          </p:nvSpPr>
          <p:spPr>
            <a:xfrm>
              <a:off x="0" y="0"/>
              <a:ext cx="3841721" cy="808578"/>
            </a:xfrm>
            <a:custGeom>
              <a:avLst/>
              <a:gdLst/>
              <a:ahLst/>
              <a:cxnLst/>
              <a:rect l="l" t="t" r="r" b="b"/>
              <a:pathLst>
                <a:path w="3841721" h="808578">
                  <a:moveTo>
                    <a:pt x="3681701" y="0"/>
                  </a:moveTo>
                  <a:lnTo>
                    <a:pt x="160020" y="0"/>
                  </a:lnTo>
                  <a:lnTo>
                    <a:pt x="0" y="160020"/>
                  </a:lnTo>
                  <a:lnTo>
                    <a:pt x="0" y="648558"/>
                  </a:lnTo>
                  <a:lnTo>
                    <a:pt x="160020" y="808578"/>
                  </a:lnTo>
                  <a:lnTo>
                    <a:pt x="3681701" y="808578"/>
                  </a:lnTo>
                  <a:lnTo>
                    <a:pt x="3841721" y="648558"/>
                  </a:lnTo>
                  <a:lnTo>
                    <a:pt x="3841721" y="160020"/>
                  </a:lnTo>
                  <a:lnTo>
                    <a:pt x="3681701" y="0"/>
                  </a:lnTo>
                  <a:close/>
                </a:path>
              </a:pathLst>
            </a:custGeom>
            <a:ln w="9525" cap="sq">
              <a:solidFill>
                <a:srgbClr val="DEF0FF">
                  <a:alpha val="49804"/>
                </a:srgbClr>
              </a:solidFill>
              <a:prstDash val="solid"/>
              <a:miter/>
            </a:ln>
          </p:spPr>
        </p:sp>
        <p:sp>
          <p:nvSpPr>
            <p:cNvPr id="30" name="TextBox 30"/>
            <p:cNvSpPr txBox="1"/>
            <p:nvPr/>
          </p:nvSpPr>
          <p:spPr>
            <a:xfrm>
              <a:off x="63500" y="6350"/>
              <a:ext cx="3714721" cy="738728"/>
            </a:xfrm>
            <a:prstGeom prst="rect">
              <a:avLst/>
            </a:prstGeom>
          </p:spPr>
          <p:txBody>
            <a:bodyPr lIns="50800" tIns="50800" rIns="50800" bIns="50800" rtlCol="0" anchor="ctr"/>
            <a:lstStyle/>
            <a:p>
              <a:pPr algn="ctr">
                <a:lnSpc>
                  <a:spcPts val="1960"/>
                </a:lnSpc>
              </a:pPr>
              <a:endParaRPr/>
            </a:p>
          </p:txBody>
        </p:sp>
      </p:grpSp>
      <p:sp>
        <p:nvSpPr>
          <p:cNvPr id="31" name="TextBox 31"/>
          <p:cNvSpPr txBox="1"/>
          <p:nvPr/>
        </p:nvSpPr>
        <p:spPr>
          <a:xfrm>
            <a:off x="7254408" y="7957082"/>
            <a:ext cx="10004892" cy="2221230"/>
          </a:xfrm>
          <a:prstGeom prst="rect">
            <a:avLst/>
          </a:prstGeom>
        </p:spPr>
        <p:txBody>
          <a:bodyPr lIns="0" tIns="0" rIns="0" bIns="0" rtlCol="0" anchor="t">
            <a:spAutoFit/>
          </a:bodyPr>
          <a:lstStyle/>
          <a:p>
            <a:pPr marL="388620" lvl="1" indent="-194310" algn="just">
              <a:lnSpc>
                <a:spcPts val="2520"/>
              </a:lnSpc>
              <a:buFont typeface="Arial"/>
              <a:buChar char="•"/>
            </a:pPr>
            <a:r>
              <a:rPr lang="en-US" sz="1800" spc="-72">
                <a:solidFill>
                  <a:srgbClr val="DEF0FF"/>
                </a:solidFill>
                <a:latin typeface="Telegraf"/>
                <a:ea typeface="Telegraf"/>
                <a:cs typeface="Telegraf"/>
                <a:sym typeface="Telegraf"/>
              </a:rPr>
              <a:t>Data uji diganggu secara sintetis, model tidak dilatih ulang</a:t>
            </a:r>
          </a:p>
          <a:p>
            <a:pPr marL="388620" lvl="1" indent="-194310" algn="just">
              <a:lnSpc>
                <a:spcPts val="2520"/>
              </a:lnSpc>
              <a:buFont typeface="Arial"/>
              <a:buChar char="•"/>
            </a:pPr>
            <a:r>
              <a:rPr lang="en-US" sz="1800" spc="-72">
                <a:solidFill>
                  <a:srgbClr val="DEF0FF"/>
                </a:solidFill>
                <a:latin typeface="Telegraf"/>
                <a:ea typeface="Telegraf"/>
                <a:cs typeface="Telegraf"/>
                <a:sym typeface="Telegraf"/>
              </a:rPr>
              <a:t>Augmentasi (S3, S4) lebih tahan terhadap rotasi 90°, sekitar +6 sampai +7 poin dari S2</a:t>
            </a:r>
          </a:p>
          <a:p>
            <a:pPr marL="388620" lvl="1" indent="-194310" algn="just">
              <a:lnSpc>
                <a:spcPts val="2520"/>
              </a:lnSpc>
              <a:buFont typeface="Arial"/>
              <a:buChar char="•"/>
            </a:pPr>
            <a:r>
              <a:rPr lang="en-US" sz="1800" spc="-72">
                <a:solidFill>
                  <a:srgbClr val="DEF0FF"/>
                </a:solidFill>
                <a:latin typeface="Telegraf"/>
                <a:ea typeface="Telegraf"/>
                <a:cs typeface="Telegraf"/>
                <a:sym typeface="Telegraf"/>
              </a:rPr>
              <a:t>S2 lebih tahan pada terang, noise, kontras rendah, dan flip vertikal, jadi augmentasi tidak memberi keuntungan menyeluruh</a:t>
            </a:r>
          </a:p>
          <a:p>
            <a:pPr marL="388620" lvl="1" indent="-194310" algn="just">
              <a:lnSpc>
                <a:spcPts val="2520"/>
              </a:lnSpc>
              <a:buFont typeface="Arial"/>
              <a:buChar char="•"/>
            </a:pPr>
            <a:r>
              <a:rPr lang="en-US" sz="1800" spc="-72">
                <a:solidFill>
                  <a:srgbClr val="DEF0FF"/>
                </a:solidFill>
                <a:latin typeface="Telegraf"/>
                <a:ea typeface="Telegraf"/>
                <a:cs typeface="Telegraf"/>
                <a:sym typeface="Telegraf"/>
              </a:rPr>
              <a:t>S1 paling rentan pada hampir semua gangguan</a:t>
            </a:r>
          </a:p>
          <a:p>
            <a:pPr marL="388620" lvl="1" indent="-194310" algn="just">
              <a:lnSpc>
                <a:spcPts val="2520"/>
              </a:lnSpc>
              <a:buFont typeface="Arial"/>
              <a:buChar char="•"/>
            </a:pPr>
            <a:r>
              <a:rPr lang="en-US" sz="1800" spc="-72">
                <a:solidFill>
                  <a:srgbClr val="DEF0FF"/>
                </a:solidFill>
                <a:latin typeface="Telegraf"/>
                <a:ea typeface="Telegraf"/>
                <a:cs typeface="Telegraf"/>
                <a:sym typeface="Telegraf"/>
              </a:rPr>
              <a:t>Zoom 60% menurunkan semua model, dan potongan tengah dapat membuang lesi</a:t>
            </a:r>
          </a:p>
          <a:p>
            <a:pPr algn="just">
              <a:lnSpc>
                <a:spcPts val="2520"/>
              </a:lnSpc>
              <a:spcBef>
                <a:spcPct val="0"/>
              </a:spcBef>
            </a:pPr>
            <a:endParaRPr lang="en-US" sz="1800" spc="-72">
              <a:solidFill>
                <a:srgbClr val="DEF0FF"/>
              </a:solidFill>
              <a:latin typeface="Telegraf"/>
              <a:ea typeface="Telegraf"/>
              <a:cs typeface="Telegraf"/>
              <a:sym typeface="Telegraf"/>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grpSp>
        <p:nvGrpSpPr>
          <p:cNvPr id="3" name="Group 3"/>
          <p:cNvGrpSpPr/>
          <p:nvPr/>
        </p:nvGrpSpPr>
        <p:grpSpPr>
          <a:xfrm>
            <a:off x="7155388" y="2445160"/>
            <a:ext cx="10103912" cy="7161885"/>
            <a:chOff x="0" y="0"/>
            <a:chExt cx="1810563" cy="1283369"/>
          </a:xfrm>
        </p:grpSpPr>
        <p:sp>
          <p:nvSpPr>
            <p:cNvPr id="4" name="Freeform 4"/>
            <p:cNvSpPr/>
            <p:nvPr/>
          </p:nvSpPr>
          <p:spPr>
            <a:xfrm>
              <a:off x="0" y="0"/>
              <a:ext cx="1810563" cy="1283369"/>
            </a:xfrm>
            <a:custGeom>
              <a:avLst/>
              <a:gdLst/>
              <a:ahLst/>
              <a:cxnLst/>
              <a:rect l="l" t="t" r="r" b="b"/>
              <a:pathLst>
                <a:path w="1810563" h="1283369">
                  <a:moveTo>
                    <a:pt x="1650543" y="0"/>
                  </a:moveTo>
                  <a:lnTo>
                    <a:pt x="160020" y="0"/>
                  </a:lnTo>
                  <a:lnTo>
                    <a:pt x="0" y="160020"/>
                  </a:lnTo>
                  <a:lnTo>
                    <a:pt x="0" y="1123349"/>
                  </a:lnTo>
                  <a:lnTo>
                    <a:pt x="160020" y="1283369"/>
                  </a:lnTo>
                  <a:lnTo>
                    <a:pt x="1650543" y="1283369"/>
                  </a:lnTo>
                  <a:lnTo>
                    <a:pt x="1810563" y="1123349"/>
                  </a:lnTo>
                  <a:lnTo>
                    <a:pt x="1810563" y="160020"/>
                  </a:lnTo>
                  <a:lnTo>
                    <a:pt x="1650543" y="0"/>
                  </a:lnTo>
                  <a:close/>
                </a:path>
              </a:pathLst>
            </a:custGeom>
            <a:ln w="9525" cap="sq">
              <a:solidFill>
                <a:srgbClr val="DEF0FF">
                  <a:alpha val="49804"/>
                </a:srgbClr>
              </a:solidFill>
              <a:prstDash val="solid"/>
              <a:miter/>
            </a:ln>
          </p:spPr>
        </p:sp>
        <p:sp>
          <p:nvSpPr>
            <p:cNvPr id="5" name="TextBox 5"/>
            <p:cNvSpPr txBox="1"/>
            <p:nvPr/>
          </p:nvSpPr>
          <p:spPr>
            <a:xfrm>
              <a:off x="63500" y="6350"/>
              <a:ext cx="1683563" cy="1213519"/>
            </a:xfrm>
            <a:prstGeom prst="rect">
              <a:avLst/>
            </a:prstGeom>
          </p:spPr>
          <p:txBody>
            <a:bodyPr lIns="50800" tIns="50800" rIns="50800" bIns="50800" rtlCol="0" anchor="ctr"/>
            <a:lstStyle/>
            <a:p>
              <a:pPr algn="ctr">
                <a:lnSpc>
                  <a:spcPts val="1960"/>
                </a:lnSpc>
              </a:pPr>
              <a:endParaRPr/>
            </a:p>
          </p:txBody>
        </p:sp>
      </p:grpSp>
      <p:grpSp>
        <p:nvGrpSpPr>
          <p:cNvPr id="6" name="Group 6"/>
          <p:cNvGrpSpPr/>
          <p:nvPr/>
        </p:nvGrpSpPr>
        <p:grpSpPr>
          <a:xfrm>
            <a:off x="1028700" y="611864"/>
            <a:ext cx="2704510" cy="416836"/>
            <a:chOff x="0" y="0"/>
            <a:chExt cx="712299" cy="109784"/>
          </a:xfrm>
        </p:grpSpPr>
        <p:sp>
          <p:nvSpPr>
            <p:cNvPr id="7" name="Freeform 7"/>
            <p:cNvSpPr/>
            <p:nvPr/>
          </p:nvSpPr>
          <p:spPr>
            <a:xfrm>
              <a:off x="0" y="0"/>
              <a:ext cx="712299" cy="109784"/>
            </a:xfrm>
            <a:custGeom>
              <a:avLst/>
              <a:gdLst/>
              <a:ahLst/>
              <a:cxnLst/>
              <a:rect l="l" t="t" r="r" b="b"/>
              <a:pathLst>
                <a:path w="712299" h="109784">
                  <a:moveTo>
                    <a:pt x="54892" y="0"/>
                  </a:moveTo>
                  <a:lnTo>
                    <a:pt x="657407" y="0"/>
                  </a:lnTo>
                  <a:cubicBezTo>
                    <a:pt x="671965" y="0"/>
                    <a:pt x="685927" y="5783"/>
                    <a:pt x="696221" y="16077"/>
                  </a:cubicBezTo>
                  <a:cubicBezTo>
                    <a:pt x="706516" y="26372"/>
                    <a:pt x="712299" y="40334"/>
                    <a:pt x="712299" y="54892"/>
                  </a:cubicBezTo>
                  <a:lnTo>
                    <a:pt x="712299" y="54892"/>
                  </a:lnTo>
                  <a:cubicBezTo>
                    <a:pt x="712299" y="85208"/>
                    <a:pt x="687723" y="109784"/>
                    <a:pt x="657407"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ln w="9525" cap="rnd">
              <a:solidFill>
                <a:srgbClr val="FFFFFF">
                  <a:alpha val="49804"/>
                </a:srgbClr>
              </a:solidFill>
              <a:prstDash val="solid"/>
              <a:round/>
            </a:ln>
          </p:spPr>
        </p:sp>
        <p:sp>
          <p:nvSpPr>
            <p:cNvPr id="8" name="TextBox 8"/>
            <p:cNvSpPr txBox="1"/>
            <p:nvPr/>
          </p:nvSpPr>
          <p:spPr>
            <a:xfrm>
              <a:off x="0" y="-38100"/>
              <a:ext cx="712299" cy="147884"/>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5558984" y="611864"/>
            <a:ext cx="1179483" cy="416836"/>
            <a:chOff x="0" y="0"/>
            <a:chExt cx="310646" cy="109784"/>
          </a:xfrm>
        </p:grpSpPr>
        <p:sp>
          <p:nvSpPr>
            <p:cNvPr id="10" name="Freeform 10"/>
            <p:cNvSpPr/>
            <p:nvPr/>
          </p:nvSpPr>
          <p:spPr>
            <a:xfrm>
              <a:off x="0" y="0"/>
              <a:ext cx="310646" cy="109784"/>
            </a:xfrm>
            <a:custGeom>
              <a:avLst/>
              <a:gdLst/>
              <a:ahLst/>
              <a:cxnLst/>
              <a:rect l="l" t="t" r="r" b="b"/>
              <a:pathLst>
                <a:path w="310646" h="109784">
                  <a:moveTo>
                    <a:pt x="54892" y="0"/>
                  </a:moveTo>
                  <a:lnTo>
                    <a:pt x="255754" y="0"/>
                  </a:lnTo>
                  <a:cubicBezTo>
                    <a:pt x="286070" y="0"/>
                    <a:pt x="310646" y="24576"/>
                    <a:pt x="310646" y="54892"/>
                  </a:cubicBezTo>
                  <a:lnTo>
                    <a:pt x="310646" y="54892"/>
                  </a:lnTo>
                  <a:cubicBezTo>
                    <a:pt x="310646" y="69450"/>
                    <a:pt x="304862" y="83412"/>
                    <a:pt x="294568" y="93706"/>
                  </a:cubicBezTo>
                  <a:cubicBezTo>
                    <a:pt x="284274" y="104001"/>
                    <a:pt x="270312" y="109784"/>
                    <a:pt x="255754"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ln w="9525" cap="rnd">
              <a:solidFill>
                <a:srgbClr val="FFFFFF">
                  <a:alpha val="49804"/>
                </a:srgbClr>
              </a:solidFill>
              <a:prstDash val="solid"/>
              <a:round/>
            </a:ln>
          </p:spPr>
        </p:sp>
        <p:sp>
          <p:nvSpPr>
            <p:cNvPr id="11" name="TextBox 11"/>
            <p:cNvSpPr txBox="1"/>
            <p:nvPr/>
          </p:nvSpPr>
          <p:spPr>
            <a:xfrm>
              <a:off x="0" y="-38100"/>
              <a:ext cx="310646" cy="14788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p:cNvGrpSpPr/>
          <p:nvPr/>
        </p:nvGrpSpPr>
        <p:grpSpPr>
          <a:xfrm>
            <a:off x="16842464" y="611864"/>
            <a:ext cx="416836" cy="416836"/>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ln w="9525" cap="rnd">
              <a:solidFill>
                <a:srgbClr val="FFFFFF">
                  <a:alpha val="49804"/>
                </a:srgbClr>
              </a:solidFill>
              <a:prstDash val="solid"/>
              <a:round/>
            </a:ln>
          </p:spPr>
        </p:sp>
        <p:sp>
          <p:nvSpPr>
            <p:cNvPr id="14" name="TextBox 14"/>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5" name="Freeform 15"/>
          <p:cNvSpPr/>
          <p:nvPr/>
        </p:nvSpPr>
        <p:spPr>
          <a:xfrm>
            <a:off x="16954260" y="755908"/>
            <a:ext cx="193244" cy="128749"/>
          </a:xfrm>
          <a:custGeom>
            <a:avLst/>
            <a:gdLst/>
            <a:ahLst/>
            <a:cxnLst/>
            <a:rect l="l" t="t" r="r" b="b"/>
            <a:pathLst>
              <a:path w="193244" h="128749">
                <a:moveTo>
                  <a:pt x="0" y="0"/>
                </a:moveTo>
                <a:lnTo>
                  <a:pt x="193244" y="0"/>
                </a:lnTo>
                <a:lnTo>
                  <a:pt x="193244" y="128749"/>
                </a:lnTo>
                <a:lnTo>
                  <a:pt x="0" y="1287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6" name="Freeform 16"/>
          <p:cNvSpPr/>
          <p:nvPr/>
        </p:nvSpPr>
        <p:spPr>
          <a:xfrm>
            <a:off x="3386715" y="735023"/>
            <a:ext cx="170453" cy="170453"/>
          </a:xfrm>
          <a:custGeom>
            <a:avLst/>
            <a:gdLst/>
            <a:ahLst/>
            <a:cxnLst/>
            <a:rect l="l" t="t" r="r" b="b"/>
            <a:pathLst>
              <a:path w="170453" h="170453">
                <a:moveTo>
                  <a:pt x="0" y="0"/>
                </a:moveTo>
                <a:lnTo>
                  <a:pt x="170453" y="0"/>
                </a:lnTo>
                <a:lnTo>
                  <a:pt x="170453" y="170452"/>
                </a:lnTo>
                <a:lnTo>
                  <a:pt x="0" y="17045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7" name="Freeform 17"/>
          <p:cNvSpPr/>
          <p:nvPr/>
        </p:nvSpPr>
        <p:spPr>
          <a:xfrm>
            <a:off x="1041480" y="2445160"/>
            <a:ext cx="5477418" cy="7328086"/>
          </a:xfrm>
          <a:custGeom>
            <a:avLst/>
            <a:gdLst/>
            <a:ahLst/>
            <a:cxnLst/>
            <a:rect l="l" t="t" r="r" b="b"/>
            <a:pathLst>
              <a:path w="5477418" h="7328086">
                <a:moveTo>
                  <a:pt x="0" y="0"/>
                </a:moveTo>
                <a:lnTo>
                  <a:pt x="5477418" y="0"/>
                </a:lnTo>
                <a:lnTo>
                  <a:pt x="5477418" y="7328085"/>
                </a:lnTo>
                <a:lnTo>
                  <a:pt x="0" y="7328085"/>
                </a:lnTo>
                <a:lnTo>
                  <a:pt x="0" y="0"/>
                </a:lnTo>
                <a:close/>
              </a:path>
            </a:pathLst>
          </a:custGeom>
          <a:blipFill>
            <a:blip r:embed="rId7"/>
            <a:stretch>
              <a:fillRect/>
            </a:stretch>
          </a:blipFill>
        </p:spPr>
      </p:sp>
      <p:sp>
        <p:nvSpPr>
          <p:cNvPr id="18" name="TextBox 18"/>
          <p:cNvSpPr txBox="1"/>
          <p:nvPr/>
        </p:nvSpPr>
        <p:spPr>
          <a:xfrm>
            <a:off x="1041480" y="1587501"/>
            <a:ext cx="16217820" cy="684276"/>
          </a:xfrm>
          <a:prstGeom prst="rect">
            <a:avLst/>
          </a:prstGeom>
        </p:spPr>
        <p:txBody>
          <a:bodyPr lIns="0" tIns="0" rIns="0" bIns="0" rtlCol="0" anchor="t">
            <a:spAutoFit/>
          </a:bodyPr>
          <a:lstStyle/>
          <a:p>
            <a:pPr algn="ctr">
              <a:lnSpc>
                <a:spcPts val="4871"/>
              </a:lnSpc>
            </a:pPr>
            <a:r>
              <a:rPr lang="en-US" sz="5799">
                <a:solidFill>
                  <a:srgbClr val="DEF0FF"/>
                </a:solidFill>
                <a:latin typeface="RQND Pro UltraWide"/>
                <a:ea typeface="RQND Pro UltraWide"/>
                <a:cs typeface="RQND Pro UltraWide"/>
                <a:sym typeface="RQND Pro UltraWide"/>
              </a:rPr>
              <a:t>Analisis Kesalahan dan Grad-CAM</a:t>
            </a:r>
          </a:p>
        </p:txBody>
      </p:sp>
      <p:sp>
        <p:nvSpPr>
          <p:cNvPr id="19" name="TextBox 19"/>
          <p:cNvSpPr txBox="1"/>
          <p:nvPr/>
        </p:nvSpPr>
        <p:spPr>
          <a:xfrm>
            <a:off x="7791888" y="6569801"/>
            <a:ext cx="9162372" cy="1392055"/>
          </a:xfrm>
          <a:prstGeom prst="rect">
            <a:avLst/>
          </a:prstGeom>
        </p:spPr>
        <p:txBody>
          <a:bodyPr lIns="0" tIns="0" rIns="0" bIns="0" rtlCol="0" anchor="t">
            <a:spAutoFit/>
          </a:bodyPr>
          <a:lstStyle/>
          <a:p>
            <a:pPr algn="just">
              <a:lnSpc>
                <a:spcPts val="2714"/>
              </a:lnSpc>
              <a:spcBef>
                <a:spcPct val="0"/>
              </a:spcBef>
            </a:pPr>
            <a:r>
              <a:rPr lang="en-US" sz="1939" spc="-77">
                <a:solidFill>
                  <a:srgbClr val="DEF0FF"/>
                </a:solidFill>
                <a:latin typeface="Telegraf"/>
                <a:ea typeface="Telegraf"/>
                <a:cs typeface="Telegraf"/>
                <a:sym typeface="Telegraf"/>
              </a:rPr>
              <a:t>Pada kelas penyakit berbercak, model terlihat berfokus di sekitar lesi, yang masuk akal secara agronomis. Pada daun sehat, sorotan terkuat justru ada di tepi gambar pada sampel ini, jadi kami tidak bisa memastikan model sepenuhnya terbebas dari pengaruh latar. Ini kami catat sebagai keterbatasan.</a:t>
            </a:r>
          </a:p>
        </p:txBody>
      </p:sp>
      <p:sp>
        <p:nvSpPr>
          <p:cNvPr id="20" name="TextBox 20"/>
          <p:cNvSpPr txBox="1"/>
          <p:nvPr/>
        </p:nvSpPr>
        <p:spPr>
          <a:xfrm>
            <a:off x="8201860" y="2662302"/>
            <a:ext cx="8123715" cy="1272540"/>
          </a:xfrm>
          <a:prstGeom prst="rect">
            <a:avLst/>
          </a:prstGeom>
        </p:spPr>
        <p:txBody>
          <a:bodyPr lIns="0" tIns="0" rIns="0" bIns="0" rtlCol="0" anchor="t">
            <a:spAutoFit/>
          </a:bodyPr>
          <a:lstStyle/>
          <a:p>
            <a:pPr algn="ctr">
              <a:lnSpc>
                <a:spcPts val="3359"/>
              </a:lnSpc>
              <a:spcBef>
                <a:spcPct val="0"/>
              </a:spcBef>
            </a:pPr>
            <a:r>
              <a:rPr lang="en-US" sz="2400" b="1" spc="-96">
                <a:solidFill>
                  <a:srgbClr val="DEF0FF"/>
                </a:solidFill>
                <a:latin typeface="Telegraf Bold"/>
                <a:ea typeface="Telegraf Bold"/>
                <a:cs typeface="Telegraf Bold"/>
                <a:sym typeface="Telegraf Bold"/>
              </a:rPr>
              <a:t>Grad-CAM Skenario 2, satu sampel per kelas (prediksi benar). Warna merah menunjukkan area yang paling berpengaruh pada keputusan model.</a:t>
            </a:r>
          </a:p>
        </p:txBody>
      </p:sp>
      <p:sp>
        <p:nvSpPr>
          <p:cNvPr id="21" name="TextBox 21"/>
          <p:cNvSpPr txBox="1"/>
          <p:nvPr/>
        </p:nvSpPr>
        <p:spPr>
          <a:xfrm>
            <a:off x="15742113" y="657054"/>
            <a:ext cx="813226" cy="269306"/>
          </a:xfrm>
          <a:prstGeom prst="rect">
            <a:avLst/>
          </a:prstGeom>
        </p:spPr>
        <p:txBody>
          <a:bodyPr lIns="0" tIns="0" rIns="0" bIns="0" rtlCol="0" anchor="t">
            <a:spAutoFit/>
          </a:bodyPr>
          <a:lstStyle/>
          <a:p>
            <a:pPr algn="ctr">
              <a:lnSpc>
                <a:spcPts val="1960"/>
              </a:lnSpc>
              <a:spcBef>
                <a:spcPct val="0"/>
              </a:spcBef>
            </a:pPr>
            <a:r>
              <a:rPr lang="en-US" sz="1400" spc="-56">
                <a:solidFill>
                  <a:srgbClr val="DEF0FF"/>
                </a:solidFill>
                <a:latin typeface="Telegraf"/>
                <a:ea typeface="Telegraf"/>
                <a:cs typeface="Telegraf"/>
                <a:sym typeface="Telegraf"/>
              </a:rPr>
              <a:t>Contact</a:t>
            </a:r>
          </a:p>
        </p:txBody>
      </p:sp>
      <p:sp>
        <p:nvSpPr>
          <p:cNvPr id="22" name="TextBox 22"/>
          <p:cNvSpPr txBox="1"/>
          <p:nvPr/>
        </p:nvSpPr>
        <p:spPr>
          <a:xfrm>
            <a:off x="6878436" y="657054"/>
            <a:ext cx="751945" cy="269240"/>
          </a:xfrm>
          <a:prstGeom prst="rect">
            <a:avLst/>
          </a:prstGeom>
        </p:spPr>
        <p:txBody>
          <a:bodyPr lIns="0" tIns="0" rIns="0" bIns="0" rtlCol="0" anchor="t">
            <a:spAutoFit/>
          </a:bodyPr>
          <a:lstStyle/>
          <a:p>
            <a:pPr algn="ctr">
              <a:lnSpc>
                <a:spcPts val="1960"/>
              </a:lnSpc>
              <a:spcBef>
                <a:spcPct val="0"/>
              </a:spcBef>
            </a:pPr>
            <a:r>
              <a:rPr lang="en-US" sz="1400" b="1" spc="-56">
                <a:solidFill>
                  <a:srgbClr val="DEF0FF"/>
                </a:solidFill>
                <a:latin typeface="Telegraf Bold"/>
                <a:ea typeface="Telegraf Bold"/>
                <a:cs typeface="Telegraf Bold"/>
                <a:sym typeface="Telegraf Bold"/>
              </a:rPr>
              <a:t>Home</a:t>
            </a:r>
          </a:p>
        </p:txBody>
      </p:sp>
      <p:sp>
        <p:nvSpPr>
          <p:cNvPr id="23" name="TextBox 23"/>
          <p:cNvSpPr txBox="1"/>
          <p:nvPr/>
        </p:nvSpPr>
        <p:spPr>
          <a:xfrm>
            <a:off x="7967106" y="657054"/>
            <a:ext cx="928073"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Services</a:t>
            </a:r>
          </a:p>
        </p:txBody>
      </p:sp>
      <p:sp>
        <p:nvSpPr>
          <p:cNvPr id="24" name="TextBox 24"/>
          <p:cNvSpPr txBox="1"/>
          <p:nvPr/>
        </p:nvSpPr>
        <p:spPr>
          <a:xfrm>
            <a:off x="10486033" y="657054"/>
            <a:ext cx="923532"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About Us</a:t>
            </a:r>
          </a:p>
        </p:txBody>
      </p:sp>
      <p:sp>
        <p:nvSpPr>
          <p:cNvPr id="25" name="TextBox 25"/>
          <p:cNvSpPr txBox="1"/>
          <p:nvPr/>
        </p:nvSpPr>
        <p:spPr>
          <a:xfrm>
            <a:off x="9231904" y="657054"/>
            <a:ext cx="917404"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Features</a:t>
            </a:r>
          </a:p>
        </p:txBody>
      </p:sp>
      <p:sp>
        <p:nvSpPr>
          <p:cNvPr id="26" name="TextBox 26"/>
          <p:cNvSpPr txBox="1"/>
          <p:nvPr/>
        </p:nvSpPr>
        <p:spPr>
          <a:xfrm>
            <a:off x="7358406" y="4230117"/>
            <a:ext cx="9595854" cy="2415884"/>
          </a:xfrm>
          <a:prstGeom prst="rect">
            <a:avLst/>
          </a:prstGeom>
        </p:spPr>
        <p:txBody>
          <a:bodyPr lIns="0" tIns="0" rIns="0" bIns="0" rtlCol="0" anchor="t">
            <a:spAutoFit/>
          </a:bodyPr>
          <a:lstStyle/>
          <a:p>
            <a:pPr marL="418632" lvl="1" indent="-209316" algn="just">
              <a:lnSpc>
                <a:spcPts val="2714"/>
              </a:lnSpc>
              <a:buFont typeface="Arial"/>
              <a:buChar char="•"/>
            </a:pPr>
            <a:r>
              <a:rPr lang="en-US" sz="1939" spc="-77">
                <a:solidFill>
                  <a:srgbClr val="DEF0FF"/>
                </a:solidFill>
                <a:latin typeface="Telegraf"/>
                <a:ea typeface="Telegraf"/>
                <a:cs typeface="Telegraf"/>
                <a:sym typeface="Telegraf"/>
              </a:rPr>
              <a:t>Anthracnose dan Cercospora: aktivasi terkonsentrasi di sekitar lesi cokelat</a:t>
            </a:r>
          </a:p>
          <a:p>
            <a:pPr marL="418632" lvl="1" indent="-209316" algn="just">
              <a:lnSpc>
                <a:spcPts val="2714"/>
              </a:lnSpc>
              <a:buFont typeface="Arial"/>
              <a:buChar char="•"/>
            </a:pPr>
            <a:r>
              <a:rPr lang="en-US" sz="1939" spc="-77">
                <a:solidFill>
                  <a:srgbClr val="DEF0FF"/>
                </a:solidFill>
                <a:latin typeface="Telegraf"/>
                <a:ea typeface="Telegraf"/>
                <a:cs typeface="Telegraf"/>
                <a:sym typeface="Telegraf"/>
              </a:rPr>
              <a:t>Leaf Curl: aktivasi tersebar di area ranting dan daun</a:t>
            </a:r>
          </a:p>
          <a:p>
            <a:pPr marL="418632" lvl="1" indent="-209316" algn="just">
              <a:lnSpc>
                <a:spcPts val="2714"/>
              </a:lnSpc>
              <a:buFont typeface="Arial"/>
              <a:buChar char="•"/>
            </a:pPr>
            <a:r>
              <a:rPr lang="en-US" sz="1939" spc="-77">
                <a:solidFill>
                  <a:srgbClr val="DEF0FF"/>
                </a:solidFill>
                <a:latin typeface="Telegraf"/>
                <a:ea typeface="Telegraf"/>
                <a:cs typeface="Telegraf"/>
                <a:sym typeface="Telegraf"/>
              </a:rPr>
              <a:t>Fresh Leaf: pada sampel ini, sorotan terkuat berada di pojok luar daun, sehingga pengaruh latar belum bisa dikesampingkan</a:t>
            </a:r>
          </a:p>
          <a:p>
            <a:pPr marL="418632" lvl="1" indent="-209316" algn="just">
              <a:lnSpc>
                <a:spcPts val="2714"/>
              </a:lnSpc>
              <a:buFont typeface="Arial"/>
              <a:buChar char="•"/>
            </a:pPr>
            <a:r>
              <a:rPr lang="en-US" sz="1939" spc="-77">
                <a:solidFill>
                  <a:srgbClr val="DEF0FF"/>
                </a:solidFill>
                <a:latin typeface="Telegraf"/>
                <a:ea typeface="Telegraf"/>
                <a:cs typeface="Telegraf"/>
                <a:sym typeface="Telegraf"/>
              </a:rPr>
              <a:t>Satu kesalahan (Cercospora diprediksi Fresh Leaf) terjadi dengan confidence 95,77%, sehingga pada kasus ini confidence tidak menandai prediksi yang ragu</a:t>
            </a:r>
          </a:p>
          <a:p>
            <a:pPr algn="just">
              <a:lnSpc>
                <a:spcPts val="2714"/>
              </a:lnSpc>
              <a:spcBef>
                <a:spcPct val="0"/>
              </a:spcBef>
            </a:pPr>
            <a:endParaRPr lang="en-US" sz="1939" spc="-77">
              <a:solidFill>
                <a:srgbClr val="DEF0FF"/>
              </a:solidFill>
              <a:latin typeface="Telegraf"/>
              <a:ea typeface="Telegraf"/>
              <a:cs typeface="Telegraf"/>
              <a:sym typeface="Telegraf"/>
            </a:endParaRPr>
          </a:p>
        </p:txBody>
      </p:sp>
      <p:sp>
        <p:nvSpPr>
          <p:cNvPr id="27" name="TextBox 27"/>
          <p:cNvSpPr txBox="1"/>
          <p:nvPr/>
        </p:nvSpPr>
        <p:spPr>
          <a:xfrm>
            <a:off x="1028700" y="9906595"/>
            <a:ext cx="5368528" cy="184150"/>
          </a:xfrm>
          <a:prstGeom prst="rect">
            <a:avLst/>
          </a:prstGeom>
        </p:spPr>
        <p:txBody>
          <a:bodyPr lIns="0" tIns="0" rIns="0" bIns="0" rtlCol="0" anchor="t">
            <a:spAutoFit/>
          </a:bodyPr>
          <a:lstStyle/>
          <a:p>
            <a:pPr algn="ctr">
              <a:lnSpc>
                <a:spcPts val="1399"/>
              </a:lnSpc>
              <a:spcBef>
                <a:spcPct val="0"/>
              </a:spcBef>
            </a:pPr>
            <a:r>
              <a:rPr lang="en-US" sz="999" spc="-39">
                <a:solidFill>
                  <a:srgbClr val="FFFFFF"/>
                </a:solidFill>
                <a:latin typeface="Telegraf"/>
                <a:ea typeface="Telegraf"/>
                <a:cs typeface="Telegraf"/>
                <a:sym typeface="Telegraf"/>
              </a:rPr>
              <a:t>*Grad-CAM menunjukkan korelasi, bukan bukti kausal; hanya satu sampel per kelas yang ditampilkan.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sp>
        <p:nvSpPr>
          <p:cNvPr id="3" name="TextBox 3"/>
          <p:cNvSpPr txBox="1"/>
          <p:nvPr/>
        </p:nvSpPr>
        <p:spPr>
          <a:xfrm>
            <a:off x="1853496" y="1371610"/>
            <a:ext cx="14581008" cy="662611"/>
          </a:xfrm>
          <a:prstGeom prst="rect">
            <a:avLst/>
          </a:prstGeom>
        </p:spPr>
        <p:txBody>
          <a:bodyPr lIns="0" tIns="0" rIns="0" bIns="0" rtlCol="0" anchor="t">
            <a:spAutoFit/>
          </a:bodyPr>
          <a:lstStyle/>
          <a:p>
            <a:pPr algn="l">
              <a:lnSpc>
                <a:spcPts val="4713"/>
              </a:lnSpc>
            </a:pPr>
            <a:r>
              <a:rPr lang="en-US" sz="5611">
                <a:solidFill>
                  <a:srgbClr val="DEF0FF"/>
                </a:solidFill>
                <a:latin typeface="RQND Pro UltraWide"/>
                <a:ea typeface="RQND Pro UltraWide"/>
                <a:cs typeface="RQND Pro UltraWide"/>
                <a:sym typeface="RQND Pro UltraWide"/>
              </a:rPr>
              <a:t>Kesimpulan dan Keterbatasan</a:t>
            </a:r>
          </a:p>
        </p:txBody>
      </p:sp>
      <p:grpSp>
        <p:nvGrpSpPr>
          <p:cNvPr id="4" name="Group 4"/>
          <p:cNvGrpSpPr/>
          <p:nvPr/>
        </p:nvGrpSpPr>
        <p:grpSpPr>
          <a:xfrm>
            <a:off x="-415567" y="3100762"/>
            <a:ext cx="6877137" cy="4714531"/>
            <a:chOff x="0" y="0"/>
            <a:chExt cx="2455705" cy="1683476"/>
          </a:xfrm>
        </p:grpSpPr>
        <p:sp>
          <p:nvSpPr>
            <p:cNvPr id="5" name="Freeform 5"/>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ln w="9525" cap="sq">
              <a:solidFill>
                <a:srgbClr val="DEF0FF">
                  <a:alpha val="49804"/>
                </a:srgbClr>
              </a:solidFill>
              <a:prstDash val="solid"/>
              <a:miter/>
            </a:ln>
          </p:spPr>
        </p:sp>
        <p:sp>
          <p:nvSpPr>
            <p:cNvPr id="6" name="TextBox 6"/>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7" name="TextBox 7"/>
          <p:cNvSpPr txBox="1"/>
          <p:nvPr/>
        </p:nvSpPr>
        <p:spPr>
          <a:xfrm>
            <a:off x="1028700" y="2643691"/>
            <a:ext cx="3533666" cy="293019"/>
          </a:xfrm>
          <a:prstGeom prst="rect">
            <a:avLst/>
          </a:prstGeom>
        </p:spPr>
        <p:txBody>
          <a:bodyPr lIns="0" tIns="0" rIns="0" bIns="0" rtlCol="0" anchor="t">
            <a:spAutoFit/>
          </a:bodyPr>
          <a:lstStyle/>
          <a:p>
            <a:pPr algn="l">
              <a:lnSpc>
                <a:spcPts val="2058"/>
              </a:lnSpc>
            </a:pPr>
            <a:r>
              <a:rPr lang="en-US" sz="2450" spc="73">
                <a:solidFill>
                  <a:srgbClr val="DEF0FF"/>
                </a:solidFill>
                <a:latin typeface="RQND Pro UltraWide"/>
                <a:ea typeface="RQND Pro UltraWide"/>
                <a:cs typeface="RQND Pro UltraWide"/>
                <a:sym typeface="RQND Pro UltraWide"/>
              </a:rPr>
              <a:t>Kesimpulan</a:t>
            </a:r>
          </a:p>
        </p:txBody>
      </p:sp>
      <p:grpSp>
        <p:nvGrpSpPr>
          <p:cNvPr id="8" name="Group 8"/>
          <p:cNvGrpSpPr/>
          <p:nvPr/>
        </p:nvGrpSpPr>
        <p:grpSpPr>
          <a:xfrm>
            <a:off x="12002239" y="3100762"/>
            <a:ext cx="6877137" cy="4714531"/>
            <a:chOff x="0" y="0"/>
            <a:chExt cx="2455705" cy="1683476"/>
          </a:xfrm>
        </p:grpSpPr>
        <p:sp>
          <p:nvSpPr>
            <p:cNvPr id="9" name="Freeform 9"/>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ln w="9525" cap="sq">
              <a:solidFill>
                <a:srgbClr val="DEF0FF">
                  <a:alpha val="49804"/>
                </a:srgbClr>
              </a:solidFill>
              <a:prstDash val="solid"/>
              <a:miter/>
            </a:ln>
          </p:spPr>
        </p:sp>
        <p:sp>
          <p:nvSpPr>
            <p:cNvPr id="10" name="TextBox 10"/>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1" name="TextBox 11"/>
          <p:cNvSpPr txBox="1"/>
          <p:nvPr/>
        </p:nvSpPr>
        <p:spPr>
          <a:xfrm>
            <a:off x="176008" y="3393911"/>
            <a:ext cx="6033348" cy="4606925"/>
          </a:xfrm>
          <a:prstGeom prst="rect">
            <a:avLst/>
          </a:prstGeom>
        </p:spPr>
        <p:txBody>
          <a:bodyPr lIns="0" tIns="0" rIns="0" bIns="0" rtlCol="0" anchor="t">
            <a:spAutoFit/>
          </a:bodyPr>
          <a:lstStyle/>
          <a:p>
            <a:pPr marL="431801" lvl="1" indent="-215900" algn="l">
              <a:lnSpc>
                <a:spcPts val="2800"/>
              </a:lnSpc>
              <a:buAutoNum type="arabicPeriod"/>
            </a:pPr>
            <a:r>
              <a:rPr lang="en-US" sz="2000" spc="-80">
                <a:solidFill>
                  <a:srgbClr val="DEF0FF"/>
                </a:solidFill>
                <a:latin typeface="Telegraf"/>
                <a:ea typeface="Telegraf"/>
                <a:cs typeface="Telegraf"/>
                <a:sym typeface="Telegraf"/>
              </a:rPr>
              <a:t>Perbaikan preprocessing (resize penuh menggantikan crop tengah) kemungkinan besar faktor terbesar peningkatan akurasi, misalnya S2 dari 80,70% menjadi 99,55%.</a:t>
            </a:r>
          </a:p>
          <a:p>
            <a:pPr marL="431801" lvl="1" indent="-215900" algn="l">
              <a:lnSpc>
                <a:spcPts val="2800"/>
              </a:lnSpc>
              <a:buAutoNum type="arabicPeriod"/>
            </a:pPr>
            <a:r>
              <a:rPr lang="en-US" sz="2000" spc="-80">
                <a:solidFill>
                  <a:srgbClr val="DEF0FF"/>
                </a:solidFill>
                <a:latin typeface="Telegraf"/>
                <a:ea typeface="Telegraf"/>
                <a:cs typeface="Telegraf"/>
                <a:sym typeface="Telegraf"/>
              </a:rPr>
              <a:t>Transfer learning (S2 sampai S4) unggul dari Custom CNN (S1, 88,74%), yang belum konvergen pada 15 epoch</a:t>
            </a:r>
          </a:p>
          <a:p>
            <a:pPr marL="431801" lvl="1" indent="-215900" algn="l">
              <a:lnSpc>
                <a:spcPts val="2800"/>
              </a:lnSpc>
              <a:buAutoNum type="arabicPeriod"/>
            </a:pPr>
            <a:r>
              <a:rPr lang="en-US" sz="2000" spc="-80">
                <a:solidFill>
                  <a:srgbClr val="DEF0FF"/>
                </a:solidFill>
                <a:latin typeface="Telegraf"/>
                <a:ea typeface="Telegraf"/>
                <a:cs typeface="Telegraf"/>
                <a:sym typeface="Telegraf"/>
              </a:rPr>
              <a:t>S2 (MobileNetV3-Small frozen) tertinggi: 99,55%; augmentasi dan fine-tuning tidak meningkatkan akurasi pada data uji bersih, tetapi augmentasi meningkatkan ketahanan terhadap rotasi 90°</a:t>
            </a:r>
          </a:p>
          <a:p>
            <a:pPr marL="431801" lvl="1" indent="-215900" algn="l">
              <a:lnSpc>
                <a:spcPts val="2800"/>
              </a:lnSpc>
              <a:spcBef>
                <a:spcPct val="0"/>
              </a:spcBef>
              <a:buAutoNum type="arabicPeriod"/>
            </a:pPr>
            <a:r>
              <a:rPr lang="en-US" sz="2000" spc="-80">
                <a:solidFill>
                  <a:srgbClr val="DEF0FF"/>
                </a:solidFill>
                <a:latin typeface="Telegraf"/>
                <a:ea typeface="Telegraf"/>
                <a:cs typeface="Telegraf"/>
                <a:sym typeface="Telegraf"/>
              </a:rPr>
              <a:t>Pada sampel Grad-CAM yang ditampilkan, aktivasi kelas penyakit terkonsentrasi di sekitar lesi</a:t>
            </a:r>
          </a:p>
        </p:txBody>
      </p:sp>
      <p:sp>
        <p:nvSpPr>
          <p:cNvPr id="12" name="Freeform 12"/>
          <p:cNvSpPr/>
          <p:nvPr/>
        </p:nvSpPr>
        <p:spPr>
          <a:xfrm>
            <a:off x="8826981" y="2250472"/>
            <a:ext cx="634038" cy="634038"/>
          </a:xfrm>
          <a:custGeom>
            <a:avLst/>
            <a:gdLst/>
            <a:ahLst/>
            <a:cxnLst/>
            <a:rect l="l" t="t" r="r" b="b"/>
            <a:pathLst>
              <a:path w="634038" h="634038">
                <a:moveTo>
                  <a:pt x="0" y="0"/>
                </a:moveTo>
                <a:lnTo>
                  <a:pt x="634038" y="0"/>
                </a:lnTo>
                <a:lnTo>
                  <a:pt x="634038" y="634039"/>
                </a:lnTo>
                <a:lnTo>
                  <a:pt x="0" y="63403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3" name="Group 13"/>
          <p:cNvGrpSpPr/>
          <p:nvPr/>
        </p:nvGrpSpPr>
        <p:grpSpPr>
          <a:xfrm>
            <a:off x="7495231" y="3100762"/>
            <a:ext cx="3473345" cy="4714531"/>
            <a:chOff x="0" y="0"/>
            <a:chExt cx="1824099" cy="2475934"/>
          </a:xfrm>
        </p:grpSpPr>
        <p:sp>
          <p:nvSpPr>
            <p:cNvPr id="14" name="Freeform 14"/>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a:blip r:embed="rId5"/>
              <a:stretch>
                <a:fillRect l="-51864" r="-51864"/>
              </a:stretch>
            </a:blipFill>
          </p:spPr>
        </p:sp>
      </p:grpSp>
      <p:grpSp>
        <p:nvGrpSpPr>
          <p:cNvPr id="15" name="Group 15"/>
          <p:cNvGrpSpPr/>
          <p:nvPr/>
        </p:nvGrpSpPr>
        <p:grpSpPr>
          <a:xfrm>
            <a:off x="1028700" y="611864"/>
            <a:ext cx="2704510" cy="416836"/>
            <a:chOff x="0" y="0"/>
            <a:chExt cx="712299" cy="109784"/>
          </a:xfrm>
        </p:grpSpPr>
        <p:sp>
          <p:nvSpPr>
            <p:cNvPr id="16" name="Freeform 16"/>
            <p:cNvSpPr/>
            <p:nvPr/>
          </p:nvSpPr>
          <p:spPr>
            <a:xfrm>
              <a:off x="0" y="0"/>
              <a:ext cx="712299" cy="109784"/>
            </a:xfrm>
            <a:custGeom>
              <a:avLst/>
              <a:gdLst/>
              <a:ahLst/>
              <a:cxnLst/>
              <a:rect l="l" t="t" r="r" b="b"/>
              <a:pathLst>
                <a:path w="712299" h="109784">
                  <a:moveTo>
                    <a:pt x="54892" y="0"/>
                  </a:moveTo>
                  <a:lnTo>
                    <a:pt x="657407" y="0"/>
                  </a:lnTo>
                  <a:cubicBezTo>
                    <a:pt x="671965" y="0"/>
                    <a:pt x="685927" y="5783"/>
                    <a:pt x="696221" y="16077"/>
                  </a:cubicBezTo>
                  <a:cubicBezTo>
                    <a:pt x="706516" y="26372"/>
                    <a:pt x="712299" y="40334"/>
                    <a:pt x="712299" y="54892"/>
                  </a:cubicBezTo>
                  <a:lnTo>
                    <a:pt x="712299" y="54892"/>
                  </a:lnTo>
                  <a:cubicBezTo>
                    <a:pt x="712299" y="85208"/>
                    <a:pt x="687723" y="109784"/>
                    <a:pt x="657407"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ln w="9525" cap="rnd">
              <a:solidFill>
                <a:srgbClr val="FFFFFF">
                  <a:alpha val="49804"/>
                </a:srgbClr>
              </a:solidFill>
              <a:prstDash val="solid"/>
              <a:round/>
            </a:ln>
          </p:spPr>
        </p:sp>
        <p:sp>
          <p:nvSpPr>
            <p:cNvPr id="17" name="TextBox 17"/>
            <p:cNvSpPr txBox="1"/>
            <p:nvPr/>
          </p:nvSpPr>
          <p:spPr>
            <a:xfrm>
              <a:off x="0" y="-38100"/>
              <a:ext cx="712299" cy="147884"/>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15558984" y="611864"/>
            <a:ext cx="1179483" cy="416836"/>
            <a:chOff x="0" y="0"/>
            <a:chExt cx="310646" cy="109784"/>
          </a:xfrm>
        </p:grpSpPr>
        <p:sp>
          <p:nvSpPr>
            <p:cNvPr id="19" name="Freeform 19"/>
            <p:cNvSpPr/>
            <p:nvPr/>
          </p:nvSpPr>
          <p:spPr>
            <a:xfrm>
              <a:off x="0" y="0"/>
              <a:ext cx="310646" cy="109784"/>
            </a:xfrm>
            <a:custGeom>
              <a:avLst/>
              <a:gdLst/>
              <a:ahLst/>
              <a:cxnLst/>
              <a:rect l="l" t="t" r="r" b="b"/>
              <a:pathLst>
                <a:path w="310646" h="109784">
                  <a:moveTo>
                    <a:pt x="54892" y="0"/>
                  </a:moveTo>
                  <a:lnTo>
                    <a:pt x="255754" y="0"/>
                  </a:lnTo>
                  <a:cubicBezTo>
                    <a:pt x="286070" y="0"/>
                    <a:pt x="310646" y="24576"/>
                    <a:pt x="310646" y="54892"/>
                  </a:cubicBezTo>
                  <a:lnTo>
                    <a:pt x="310646" y="54892"/>
                  </a:lnTo>
                  <a:cubicBezTo>
                    <a:pt x="310646" y="69450"/>
                    <a:pt x="304862" y="83412"/>
                    <a:pt x="294568" y="93706"/>
                  </a:cubicBezTo>
                  <a:cubicBezTo>
                    <a:pt x="284274" y="104001"/>
                    <a:pt x="270312" y="109784"/>
                    <a:pt x="255754"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ln w="9525" cap="rnd">
              <a:solidFill>
                <a:srgbClr val="FFFFFF">
                  <a:alpha val="49804"/>
                </a:srgbClr>
              </a:solidFill>
              <a:prstDash val="solid"/>
              <a:round/>
            </a:ln>
          </p:spPr>
        </p:sp>
        <p:sp>
          <p:nvSpPr>
            <p:cNvPr id="20" name="TextBox 20"/>
            <p:cNvSpPr txBox="1"/>
            <p:nvPr/>
          </p:nvSpPr>
          <p:spPr>
            <a:xfrm>
              <a:off x="0" y="-38100"/>
              <a:ext cx="310646" cy="14788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1" name="Group 21"/>
          <p:cNvGrpSpPr/>
          <p:nvPr/>
        </p:nvGrpSpPr>
        <p:grpSpPr>
          <a:xfrm>
            <a:off x="16842464" y="611864"/>
            <a:ext cx="416836" cy="416836"/>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ln w="9525" cap="rnd">
              <a:solidFill>
                <a:srgbClr val="FFFFFF">
                  <a:alpha val="49804"/>
                </a:srgbClr>
              </a:solidFill>
              <a:prstDash val="solid"/>
              <a:round/>
            </a:ln>
          </p:spPr>
        </p:sp>
        <p:sp>
          <p:nvSpPr>
            <p:cNvPr id="23" name="TextBox 23"/>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4" name="Freeform 24"/>
          <p:cNvSpPr/>
          <p:nvPr/>
        </p:nvSpPr>
        <p:spPr>
          <a:xfrm>
            <a:off x="16954260" y="755908"/>
            <a:ext cx="193244" cy="128749"/>
          </a:xfrm>
          <a:custGeom>
            <a:avLst/>
            <a:gdLst/>
            <a:ahLst/>
            <a:cxnLst/>
            <a:rect l="l" t="t" r="r" b="b"/>
            <a:pathLst>
              <a:path w="193244" h="128749">
                <a:moveTo>
                  <a:pt x="0" y="0"/>
                </a:moveTo>
                <a:lnTo>
                  <a:pt x="193244" y="0"/>
                </a:lnTo>
                <a:lnTo>
                  <a:pt x="193244" y="128749"/>
                </a:lnTo>
                <a:lnTo>
                  <a:pt x="0" y="12874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5" name="Freeform 25"/>
          <p:cNvSpPr/>
          <p:nvPr/>
        </p:nvSpPr>
        <p:spPr>
          <a:xfrm>
            <a:off x="3386715" y="735023"/>
            <a:ext cx="170453" cy="170453"/>
          </a:xfrm>
          <a:custGeom>
            <a:avLst/>
            <a:gdLst/>
            <a:ahLst/>
            <a:cxnLst/>
            <a:rect l="l" t="t" r="r" b="b"/>
            <a:pathLst>
              <a:path w="170453" h="170453">
                <a:moveTo>
                  <a:pt x="0" y="0"/>
                </a:moveTo>
                <a:lnTo>
                  <a:pt x="170453" y="0"/>
                </a:lnTo>
                <a:lnTo>
                  <a:pt x="170453" y="170452"/>
                </a:lnTo>
                <a:lnTo>
                  <a:pt x="0" y="17045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6" name="TextBox 26"/>
          <p:cNvSpPr txBox="1"/>
          <p:nvPr/>
        </p:nvSpPr>
        <p:spPr>
          <a:xfrm>
            <a:off x="15742113" y="657054"/>
            <a:ext cx="813226" cy="269306"/>
          </a:xfrm>
          <a:prstGeom prst="rect">
            <a:avLst/>
          </a:prstGeom>
        </p:spPr>
        <p:txBody>
          <a:bodyPr lIns="0" tIns="0" rIns="0" bIns="0" rtlCol="0" anchor="t">
            <a:spAutoFit/>
          </a:bodyPr>
          <a:lstStyle/>
          <a:p>
            <a:pPr algn="ctr">
              <a:lnSpc>
                <a:spcPts val="1960"/>
              </a:lnSpc>
              <a:spcBef>
                <a:spcPct val="0"/>
              </a:spcBef>
            </a:pPr>
            <a:r>
              <a:rPr lang="en-US" sz="1400" spc="-56">
                <a:solidFill>
                  <a:srgbClr val="DEF0FF"/>
                </a:solidFill>
                <a:latin typeface="Telegraf"/>
                <a:ea typeface="Telegraf"/>
                <a:cs typeface="Telegraf"/>
                <a:sym typeface="Telegraf"/>
              </a:rPr>
              <a:t>Contact</a:t>
            </a:r>
          </a:p>
        </p:txBody>
      </p:sp>
      <p:sp>
        <p:nvSpPr>
          <p:cNvPr id="27" name="TextBox 27"/>
          <p:cNvSpPr txBox="1"/>
          <p:nvPr/>
        </p:nvSpPr>
        <p:spPr>
          <a:xfrm>
            <a:off x="6878436" y="657054"/>
            <a:ext cx="751945" cy="269240"/>
          </a:xfrm>
          <a:prstGeom prst="rect">
            <a:avLst/>
          </a:prstGeom>
        </p:spPr>
        <p:txBody>
          <a:bodyPr lIns="0" tIns="0" rIns="0" bIns="0" rtlCol="0" anchor="t">
            <a:spAutoFit/>
          </a:bodyPr>
          <a:lstStyle/>
          <a:p>
            <a:pPr algn="ctr">
              <a:lnSpc>
                <a:spcPts val="1960"/>
              </a:lnSpc>
              <a:spcBef>
                <a:spcPct val="0"/>
              </a:spcBef>
            </a:pPr>
            <a:r>
              <a:rPr lang="en-US" sz="1400" b="1" spc="-56">
                <a:solidFill>
                  <a:srgbClr val="DEF0FF"/>
                </a:solidFill>
                <a:latin typeface="Telegraf Bold"/>
                <a:ea typeface="Telegraf Bold"/>
                <a:cs typeface="Telegraf Bold"/>
                <a:sym typeface="Telegraf Bold"/>
              </a:rPr>
              <a:t>Home</a:t>
            </a:r>
          </a:p>
        </p:txBody>
      </p:sp>
      <p:sp>
        <p:nvSpPr>
          <p:cNvPr id="28" name="TextBox 28"/>
          <p:cNvSpPr txBox="1"/>
          <p:nvPr/>
        </p:nvSpPr>
        <p:spPr>
          <a:xfrm>
            <a:off x="7967106" y="657054"/>
            <a:ext cx="928073"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Services</a:t>
            </a:r>
          </a:p>
        </p:txBody>
      </p:sp>
      <p:sp>
        <p:nvSpPr>
          <p:cNvPr id="29" name="TextBox 29"/>
          <p:cNvSpPr txBox="1"/>
          <p:nvPr/>
        </p:nvSpPr>
        <p:spPr>
          <a:xfrm>
            <a:off x="10486033" y="657054"/>
            <a:ext cx="923532"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About Us</a:t>
            </a:r>
          </a:p>
        </p:txBody>
      </p:sp>
      <p:sp>
        <p:nvSpPr>
          <p:cNvPr id="30" name="TextBox 30"/>
          <p:cNvSpPr txBox="1"/>
          <p:nvPr/>
        </p:nvSpPr>
        <p:spPr>
          <a:xfrm>
            <a:off x="9231904" y="657054"/>
            <a:ext cx="917404"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Features</a:t>
            </a:r>
          </a:p>
        </p:txBody>
      </p:sp>
      <p:sp>
        <p:nvSpPr>
          <p:cNvPr id="31" name="TextBox 31"/>
          <p:cNvSpPr txBox="1"/>
          <p:nvPr/>
        </p:nvSpPr>
        <p:spPr>
          <a:xfrm>
            <a:off x="13975280" y="2643691"/>
            <a:ext cx="3533666" cy="293019"/>
          </a:xfrm>
          <a:prstGeom prst="rect">
            <a:avLst/>
          </a:prstGeom>
        </p:spPr>
        <p:txBody>
          <a:bodyPr lIns="0" tIns="0" rIns="0" bIns="0" rtlCol="0" anchor="t">
            <a:spAutoFit/>
          </a:bodyPr>
          <a:lstStyle/>
          <a:p>
            <a:pPr algn="l">
              <a:lnSpc>
                <a:spcPts val="2058"/>
              </a:lnSpc>
            </a:pPr>
            <a:r>
              <a:rPr lang="en-US" sz="2450" spc="73">
                <a:solidFill>
                  <a:srgbClr val="DEF0FF"/>
                </a:solidFill>
                <a:latin typeface="RQND Pro UltraWide"/>
                <a:ea typeface="RQND Pro UltraWide"/>
                <a:cs typeface="RQND Pro UltraWide"/>
                <a:sym typeface="RQND Pro UltraWide"/>
              </a:rPr>
              <a:t>Keterbatasan</a:t>
            </a:r>
          </a:p>
        </p:txBody>
      </p:sp>
      <p:sp>
        <p:nvSpPr>
          <p:cNvPr id="32" name="TextBox 32"/>
          <p:cNvSpPr txBox="1"/>
          <p:nvPr/>
        </p:nvSpPr>
        <p:spPr>
          <a:xfrm>
            <a:off x="12254652" y="3468890"/>
            <a:ext cx="5759028" cy="3902075"/>
          </a:xfrm>
          <a:prstGeom prst="rect">
            <a:avLst/>
          </a:prstGeom>
        </p:spPr>
        <p:txBody>
          <a:bodyPr lIns="0" tIns="0" rIns="0" bIns="0" rtlCol="0" anchor="t">
            <a:spAutoFit/>
          </a:bodyPr>
          <a:lstStyle/>
          <a:p>
            <a:pPr marL="431801" lvl="1" indent="-215900" algn="l">
              <a:lnSpc>
                <a:spcPts val="2800"/>
              </a:lnSpc>
              <a:buAutoNum type="arabicPeriod"/>
            </a:pPr>
            <a:r>
              <a:rPr lang="en-US" sz="2000" spc="-80">
                <a:solidFill>
                  <a:srgbClr val="DEF0FF"/>
                </a:solidFill>
                <a:latin typeface="Telegraf"/>
                <a:ea typeface="Telegraf"/>
                <a:cs typeface="Telegraf"/>
                <a:sym typeface="Telegraf"/>
              </a:rPr>
              <a:t>Latar relatif polos pada sampel yang diamati; belum diuji pada kondisi lapangan</a:t>
            </a:r>
          </a:p>
          <a:p>
            <a:pPr marL="431801" lvl="1" indent="-215900" algn="l">
              <a:lnSpc>
                <a:spcPts val="2800"/>
              </a:lnSpc>
              <a:buAutoNum type="arabicPeriod"/>
            </a:pPr>
            <a:r>
              <a:rPr lang="en-US" sz="2000" spc="-80">
                <a:solidFill>
                  <a:srgbClr val="DEF0FF"/>
                </a:solidFill>
                <a:latin typeface="Telegraf"/>
                <a:ea typeface="Telegraf"/>
                <a:cs typeface="Telegraf"/>
                <a:sym typeface="Telegraf"/>
              </a:rPr>
              <a:t>Near-duplicate yang digeser atau diputar masih mungkin lolos</a:t>
            </a:r>
          </a:p>
          <a:p>
            <a:pPr marL="431801" lvl="1" indent="-215900" algn="l">
              <a:lnSpc>
                <a:spcPts val="2800"/>
              </a:lnSpc>
              <a:buAutoNum type="arabicPeriod"/>
            </a:pPr>
            <a:r>
              <a:rPr lang="en-US" sz="2000" spc="-80">
                <a:solidFill>
                  <a:srgbClr val="DEF0FF"/>
                </a:solidFill>
                <a:latin typeface="Telegraf"/>
                <a:ea typeface="Telegraf"/>
                <a:cs typeface="Telegraf"/>
                <a:sym typeface="Telegraf"/>
              </a:rPr>
              <a:t>Satu split, 222 data uji, satu kali pelatihan tanpa seed tetap</a:t>
            </a:r>
          </a:p>
          <a:p>
            <a:pPr marL="431801" lvl="1" indent="-215900" algn="l">
              <a:lnSpc>
                <a:spcPts val="2800"/>
              </a:lnSpc>
              <a:buAutoNum type="arabicPeriod"/>
            </a:pPr>
            <a:r>
              <a:rPr lang="en-US" sz="2000" spc="-80">
                <a:solidFill>
                  <a:srgbClr val="DEF0FF"/>
                </a:solidFill>
                <a:latin typeface="Telegraf"/>
                <a:ea typeface="Telegraf"/>
                <a:cs typeface="Telegraf"/>
                <a:sym typeface="Telegraf"/>
              </a:rPr>
              <a:t>Belum diuji pada foto di luar dataset</a:t>
            </a:r>
          </a:p>
          <a:p>
            <a:pPr marL="431801" lvl="1" indent="-215900" algn="l">
              <a:lnSpc>
                <a:spcPts val="2800"/>
              </a:lnSpc>
              <a:buAutoNum type="arabicPeriod"/>
            </a:pPr>
            <a:r>
              <a:rPr lang="en-US" sz="2000" spc="-80">
                <a:solidFill>
                  <a:srgbClr val="DEF0FF"/>
                </a:solidFill>
                <a:latin typeface="Telegraf"/>
                <a:ea typeface="Telegraf"/>
                <a:cs typeface="Telegraf"/>
                <a:sym typeface="Telegraf"/>
              </a:rPr>
              <a:t>Protokol tidak setara: S4 30 epoch, lainnya 15 epoch</a:t>
            </a:r>
          </a:p>
          <a:p>
            <a:pPr marL="431801" lvl="1" indent="-215900" algn="l">
              <a:lnSpc>
                <a:spcPts val="2800"/>
              </a:lnSpc>
              <a:spcBef>
                <a:spcPct val="0"/>
              </a:spcBef>
              <a:buAutoNum type="arabicPeriod"/>
            </a:pPr>
            <a:r>
              <a:rPr lang="en-US" sz="2000" spc="-80">
                <a:solidFill>
                  <a:srgbClr val="DEF0FF"/>
                </a:solidFill>
                <a:latin typeface="Telegraf"/>
                <a:ea typeface="Telegraf"/>
                <a:cs typeface="Telegraf"/>
                <a:sym typeface="Telegraf"/>
              </a:rPr>
              <a:t>Val loss S3 tidak stabil; uji ketahanan sintetis; Grad-CAM satu sampel per kelas</a:t>
            </a:r>
          </a:p>
        </p:txBody>
      </p:sp>
      <p:sp>
        <p:nvSpPr>
          <p:cNvPr id="33" name="TextBox 33"/>
          <p:cNvSpPr txBox="1"/>
          <p:nvPr/>
        </p:nvSpPr>
        <p:spPr>
          <a:xfrm>
            <a:off x="6727558" y="8159413"/>
            <a:ext cx="4832883" cy="293019"/>
          </a:xfrm>
          <a:prstGeom prst="rect">
            <a:avLst/>
          </a:prstGeom>
        </p:spPr>
        <p:txBody>
          <a:bodyPr lIns="0" tIns="0" rIns="0" bIns="0" rtlCol="0" anchor="t">
            <a:spAutoFit/>
          </a:bodyPr>
          <a:lstStyle/>
          <a:p>
            <a:pPr algn="l">
              <a:lnSpc>
                <a:spcPts val="2058"/>
              </a:lnSpc>
            </a:pPr>
            <a:r>
              <a:rPr lang="en-US" sz="2450" spc="73">
                <a:solidFill>
                  <a:srgbClr val="DEF0FF"/>
                </a:solidFill>
                <a:latin typeface="RQND Pro UltraWide"/>
                <a:ea typeface="RQND Pro UltraWide"/>
                <a:cs typeface="RQND Pro UltraWide"/>
                <a:sym typeface="RQND Pro UltraWide"/>
              </a:rPr>
              <a:t>Saran pengembangan</a:t>
            </a:r>
          </a:p>
        </p:txBody>
      </p:sp>
      <p:sp>
        <p:nvSpPr>
          <p:cNvPr id="34" name="TextBox 34"/>
          <p:cNvSpPr txBox="1"/>
          <p:nvPr/>
        </p:nvSpPr>
        <p:spPr>
          <a:xfrm>
            <a:off x="6221304" y="8644154"/>
            <a:ext cx="6033348" cy="1082675"/>
          </a:xfrm>
          <a:prstGeom prst="rect">
            <a:avLst/>
          </a:prstGeom>
        </p:spPr>
        <p:txBody>
          <a:bodyPr lIns="0" tIns="0" rIns="0" bIns="0" rtlCol="0" anchor="t">
            <a:spAutoFit/>
          </a:bodyPr>
          <a:lstStyle/>
          <a:p>
            <a:pPr marL="431801" lvl="1" indent="-215900" algn="l">
              <a:lnSpc>
                <a:spcPts val="2800"/>
              </a:lnSpc>
              <a:buAutoNum type="arabicPeriod"/>
            </a:pPr>
            <a:r>
              <a:rPr lang="en-US" sz="2000" spc="-80">
                <a:solidFill>
                  <a:srgbClr val="DEF0FF"/>
                </a:solidFill>
                <a:latin typeface="Telegraf"/>
                <a:ea typeface="Telegraf"/>
                <a:cs typeface="Telegraf"/>
                <a:sym typeface="Telegraf"/>
              </a:rPr>
              <a:t>Uji pada foto lapangan di luar dataset</a:t>
            </a:r>
          </a:p>
          <a:p>
            <a:pPr marL="431801" lvl="1" indent="-215900" algn="l">
              <a:lnSpc>
                <a:spcPts val="2800"/>
              </a:lnSpc>
              <a:buAutoNum type="arabicPeriod"/>
            </a:pPr>
            <a:r>
              <a:rPr lang="en-US" sz="2000" spc="-80">
                <a:solidFill>
                  <a:srgbClr val="DEF0FF"/>
                </a:solidFill>
                <a:latin typeface="Telegraf"/>
                <a:ea typeface="Telegraf"/>
                <a:cs typeface="Telegraf"/>
                <a:sym typeface="Telegraf"/>
              </a:rPr>
              <a:t>Validasi silang atau beberapa seed</a:t>
            </a:r>
          </a:p>
          <a:p>
            <a:pPr marL="431801" lvl="1" indent="-215900" algn="l">
              <a:lnSpc>
                <a:spcPts val="2800"/>
              </a:lnSpc>
              <a:spcBef>
                <a:spcPct val="0"/>
              </a:spcBef>
              <a:buAutoNum type="arabicPeriod"/>
            </a:pPr>
            <a:r>
              <a:rPr lang="en-US" sz="2000" spc="-80">
                <a:solidFill>
                  <a:srgbClr val="DEF0FF"/>
                </a:solidFill>
                <a:latin typeface="Telegraf"/>
                <a:ea typeface="Telegraf"/>
                <a:cs typeface="Telegraf"/>
                <a:sym typeface="Telegraf"/>
              </a:rPr>
              <a:t>Analisis Grad-CAM pada lebih banyak sampel.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grpSp>
        <p:nvGrpSpPr>
          <p:cNvPr id="3" name="Group 3"/>
          <p:cNvGrpSpPr/>
          <p:nvPr/>
        </p:nvGrpSpPr>
        <p:grpSpPr>
          <a:xfrm>
            <a:off x="1028700" y="2024579"/>
            <a:ext cx="16230600" cy="7233721"/>
            <a:chOff x="0" y="0"/>
            <a:chExt cx="5795662" cy="2583035"/>
          </a:xfrm>
        </p:grpSpPr>
        <p:sp>
          <p:nvSpPr>
            <p:cNvPr id="4" name="Freeform 4"/>
            <p:cNvSpPr/>
            <p:nvPr/>
          </p:nvSpPr>
          <p:spPr>
            <a:xfrm>
              <a:off x="0" y="0"/>
              <a:ext cx="5795662" cy="2583035"/>
            </a:xfrm>
            <a:custGeom>
              <a:avLst/>
              <a:gdLst/>
              <a:ahLst/>
              <a:cxnLst/>
              <a:rect l="l" t="t" r="r" b="b"/>
              <a:pathLst>
                <a:path w="5795662" h="2583035">
                  <a:moveTo>
                    <a:pt x="5635642" y="0"/>
                  </a:moveTo>
                  <a:lnTo>
                    <a:pt x="160020" y="0"/>
                  </a:lnTo>
                  <a:lnTo>
                    <a:pt x="0" y="160020"/>
                  </a:lnTo>
                  <a:lnTo>
                    <a:pt x="0" y="2423015"/>
                  </a:lnTo>
                  <a:lnTo>
                    <a:pt x="160020" y="2583035"/>
                  </a:lnTo>
                  <a:lnTo>
                    <a:pt x="5635642" y="2583035"/>
                  </a:lnTo>
                  <a:lnTo>
                    <a:pt x="5795662" y="2423015"/>
                  </a:lnTo>
                  <a:lnTo>
                    <a:pt x="5795662" y="160020"/>
                  </a:lnTo>
                  <a:lnTo>
                    <a:pt x="5635642" y="0"/>
                  </a:lnTo>
                  <a:close/>
                </a:path>
              </a:pathLst>
            </a:custGeom>
            <a:ln w="9525" cap="sq">
              <a:solidFill>
                <a:srgbClr val="DEF0FF">
                  <a:alpha val="49804"/>
                </a:srgbClr>
              </a:solidFill>
              <a:prstDash val="solid"/>
              <a:miter/>
            </a:ln>
          </p:spPr>
        </p:sp>
        <p:sp>
          <p:nvSpPr>
            <p:cNvPr id="5" name="TextBox 5"/>
            <p:cNvSpPr txBox="1"/>
            <p:nvPr/>
          </p:nvSpPr>
          <p:spPr>
            <a:xfrm>
              <a:off x="63500" y="6350"/>
              <a:ext cx="5668662" cy="2513185"/>
            </a:xfrm>
            <a:prstGeom prst="rect">
              <a:avLst/>
            </a:prstGeom>
          </p:spPr>
          <p:txBody>
            <a:bodyPr lIns="50800" tIns="50800" rIns="50800" bIns="50800" rtlCol="0" anchor="ctr"/>
            <a:lstStyle/>
            <a:p>
              <a:pPr algn="ctr">
                <a:lnSpc>
                  <a:spcPts val="1960"/>
                </a:lnSpc>
              </a:pPr>
              <a:endParaRPr/>
            </a:p>
          </p:txBody>
        </p:sp>
      </p:grpSp>
      <p:sp>
        <p:nvSpPr>
          <p:cNvPr id="6" name="TextBox 6"/>
          <p:cNvSpPr txBox="1"/>
          <p:nvPr/>
        </p:nvSpPr>
        <p:spPr>
          <a:xfrm>
            <a:off x="1706871" y="3948495"/>
            <a:ext cx="14376615" cy="3275835"/>
          </a:xfrm>
          <a:prstGeom prst="rect">
            <a:avLst/>
          </a:prstGeom>
        </p:spPr>
        <p:txBody>
          <a:bodyPr lIns="0" tIns="0" rIns="0" bIns="0" rtlCol="0" anchor="t">
            <a:spAutoFit/>
          </a:bodyPr>
          <a:lstStyle/>
          <a:p>
            <a:pPr algn="ctr">
              <a:lnSpc>
                <a:spcPts val="11782"/>
              </a:lnSpc>
            </a:pPr>
            <a:r>
              <a:rPr lang="en-US" sz="17585">
                <a:solidFill>
                  <a:srgbClr val="DEF0FF"/>
                </a:solidFill>
                <a:latin typeface="RQND Pro UltraWide"/>
                <a:ea typeface="RQND Pro UltraWide"/>
                <a:cs typeface="RQND Pro UltraWide"/>
                <a:sym typeface="RQND Pro UltraWide"/>
              </a:rPr>
              <a:t>Thank You</a:t>
            </a:r>
          </a:p>
        </p:txBody>
      </p:sp>
      <p:sp>
        <p:nvSpPr>
          <p:cNvPr id="7" name="Freeform 7"/>
          <p:cNvSpPr/>
          <p:nvPr/>
        </p:nvSpPr>
        <p:spPr>
          <a:xfrm>
            <a:off x="1655172" y="8597393"/>
            <a:ext cx="376800" cy="376800"/>
          </a:xfrm>
          <a:custGeom>
            <a:avLst/>
            <a:gdLst/>
            <a:ahLst/>
            <a:cxnLst/>
            <a:rect l="l" t="t" r="r" b="b"/>
            <a:pathLst>
              <a:path w="376800" h="376800">
                <a:moveTo>
                  <a:pt x="0" y="0"/>
                </a:moveTo>
                <a:lnTo>
                  <a:pt x="376800" y="0"/>
                </a:lnTo>
                <a:lnTo>
                  <a:pt x="376800" y="376800"/>
                </a:lnTo>
                <a:lnTo>
                  <a:pt x="0" y="376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8" name="Group 8"/>
          <p:cNvGrpSpPr/>
          <p:nvPr/>
        </p:nvGrpSpPr>
        <p:grpSpPr>
          <a:xfrm>
            <a:off x="1028700" y="611864"/>
            <a:ext cx="2704510" cy="416836"/>
            <a:chOff x="0" y="0"/>
            <a:chExt cx="712299" cy="109784"/>
          </a:xfrm>
        </p:grpSpPr>
        <p:sp>
          <p:nvSpPr>
            <p:cNvPr id="9" name="Freeform 9"/>
            <p:cNvSpPr/>
            <p:nvPr/>
          </p:nvSpPr>
          <p:spPr>
            <a:xfrm>
              <a:off x="0" y="0"/>
              <a:ext cx="712299" cy="109784"/>
            </a:xfrm>
            <a:custGeom>
              <a:avLst/>
              <a:gdLst/>
              <a:ahLst/>
              <a:cxnLst/>
              <a:rect l="l" t="t" r="r" b="b"/>
              <a:pathLst>
                <a:path w="712299" h="109784">
                  <a:moveTo>
                    <a:pt x="54892" y="0"/>
                  </a:moveTo>
                  <a:lnTo>
                    <a:pt x="657407" y="0"/>
                  </a:lnTo>
                  <a:cubicBezTo>
                    <a:pt x="671965" y="0"/>
                    <a:pt x="685927" y="5783"/>
                    <a:pt x="696221" y="16077"/>
                  </a:cubicBezTo>
                  <a:cubicBezTo>
                    <a:pt x="706516" y="26372"/>
                    <a:pt x="712299" y="40334"/>
                    <a:pt x="712299" y="54892"/>
                  </a:cubicBezTo>
                  <a:lnTo>
                    <a:pt x="712299" y="54892"/>
                  </a:lnTo>
                  <a:cubicBezTo>
                    <a:pt x="712299" y="85208"/>
                    <a:pt x="687723" y="109784"/>
                    <a:pt x="657407"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ln w="9525" cap="rnd">
              <a:solidFill>
                <a:srgbClr val="FFFFFF">
                  <a:alpha val="49804"/>
                </a:srgbClr>
              </a:solidFill>
              <a:prstDash val="solid"/>
              <a:round/>
            </a:ln>
          </p:spPr>
        </p:sp>
        <p:sp>
          <p:nvSpPr>
            <p:cNvPr id="10" name="TextBox 10"/>
            <p:cNvSpPr txBox="1"/>
            <p:nvPr/>
          </p:nvSpPr>
          <p:spPr>
            <a:xfrm>
              <a:off x="0" y="-38100"/>
              <a:ext cx="712299" cy="147884"/>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15558984" y="611864"/>
            <a:ext cx="1179483" cy="416836"/>
            <a:chOff x="0" y="0"/>
            <a:chExt cx="310646" cy="109784"/>
          </a:xfrm>
        </p:grpSpPr>
        <p:sp>
          <p:nvSpPr>
            <p:cNvPr id="12" name="Freeform 12"/>
            <p:cNvSpPr/>
            <p:nvPr/>
          </p:nvSpPr>
          <p:spPr>
            <a:xfrm>
              <a:off x="0" y="0"/>
              <a:ext cx="310646" cy="109784"/>
            </a:xfrm>
            <a:custGeom>
              <a:avLst/>
              <a:gdLst/>
              <a:ahLst/>
              <a:cxnLst/>
              <a:rect l="l" t="t" r="r" b="b"/>
              <a:pathLst>
                <a:path w="310646" h="109784">
                  <a:moveTo>
                    <a:pt x="54892" y="0"/>
                  </a:moveTo>
                  <a:lnTo>
                    <a:pt x="255754" y="0"/>
                  </a:lnTo>
                  <a:cubicBezTo>
                    <a:pt x="286070" y="0"/>
                    <a:pt x="310646" y="24576"/>
                    <a:pt x="310646" y="54892"/>
                  </a:cubicBezTo>
                  <a:lnTo>
                    <a:pt x="310646" y="54892"/>
                  </a:lnTo>
                  <a:cubicBezTo>
                    <a:pt x="310646" y="69450"/>
                    <a:pt x="304862" y="83412"/>
                    <a:pt x="294568" y="93706"/>
                  </a:cubicBezTo>
                  <a:cubicBezTo>
                    <a:pt x="284274" y="104001"/>
                    <a:pt x="270312" y="109784"/>
                    <a:pt x="255754"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ln w="9525" cap="rnd">
              <a:solidFill>
                <a:srgbClr val="FFFFFF">
                  <a:alpha val="49804"/>
                </a:srgbClr>
              </a:solidFill>
              <a:prstDash val="solid"/>
              <a:round/>
            </a:ln>
          </p:spPr>
        </p:sp>
        <p:sp>
          <p:nvSpPr>
            <p:cNvPr id="13" name="TextBox 13"/>
            <p:cNvSpPr txBox="1"/>
            <p:nvPr/>
          </p:nvSpPr>
          <p:spPr>
            <a:xfrm>
              <a:off x="0" y="-38100"/>
              <a:ext cx="310646" cy="14788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4" name="Group 14"/>
          <p:cNvGrpSpPr/>
          <p:nvPr/>
        </p:nvGrpSpPr>
        <p:grpSpPr>
          <a:xfrm>
            <a:off x="16842464" y="611864"/>
            <a:ext cx="416836" cy="416836"/>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ln w="9525" cap="rnd">
              <a:solidFill>
                <a:srgbClr val="FFFFFF">
                  <a:alpha val="49804"/>
                </a:srgbClr>
              </a:solidFill>
              <a:prstDash val="solid"/>
              <a:round/>
            </a:ln>
          </p:spPr>
        </p:sp>
        <p:sp>
          <p:nvSpPr>
            <p:cNvPr id="16" name="TextBox 16"/>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7" name="Freeform 17"/>
          <p:cNvSpPr/>
          <p:nvPr/>
        </p:nvSpPr>
        <p:spPr>
          <a:xfrm>
            <a:off x="16954260" y="755908"/>
            <a:ext cx="193244" cy="128749"/>
          </a:xfrm>
          <a:custGeom>
            <a:avLst/>
            <a:gdLst/>
            <a:ahLst/>
            <a:cxnLst/>
            <a:rect l="l" t="t" r="r" b="b"/>
            <a:pathLst>
              <a:path w="193244" h="128749">
                <a:moveTo>
                  <a:pt x="0" y="0"/>
                </a:moveTo>
                <a:lnTo>
                  <a:pt x="193244" y="0"/>
                </a:lnTo>
                <a:lnTo>
                  <a:pt x="193244" y="128749"/>
                </a:lnTo>
                <a:lnTo>
                  <a:pt x="0" y="12874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8" name="Freeform 18"/>
          <p:cNvSpPr/>
          <p:nvPr/>
        </p:nvSpPr>
        <p:spPr>
          <a:xfrm>
            <a:off x="3386715" y="735023"/>
            <a:ext cx="170453" cy="170453"/>
          </a:xfrm>
          <a:custGeom>
            <a:avLst/>
            <a:gdLst/>
            <a:ahLst/>
            <a:cxnLst/>
            <a:rect l="l" t="t" r="r" b="b"/>
            <a:pathLst>
              <a:path w="170453" h="170453">
                <a:moveTo>
                  <a:pt x="0" y="0"/>
                </a:moveTo>
                <a:lnTo>
                  <a:pt x="170453" y="0"/>
                </a:lnTo>
                <a:lnTo>
                  <a:pt x="170453" y="170452"/>
                </a:lnTo>
                <a:lnTo>
                  <a:pt x="0" y="17045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9" name="TextBox 19"/>
          <p:cNvSpPr txBox="1"/>
          <p:nvPr/>
        </p:nvSpPr>
        <p:spPr>
          <a:xfrm>
            <a:off x="15742113" y="657054"/>
            <a:ext cx="813226" cy="269306"/>
          </a:xfrm>
          <a:prstGeom prst="rect">
            <a:avLst/>
          </a:prstGeom>
        </p:spPr>
        <p:txBody>
          <a:bodyPr lIns="0" tIns="0" rIns="0" bIns="0" rtlCol="0" anchor="t">
            <a:spAutoFit/>
          </a:bodyPr>
          <a:lstStyle/>
          <a:p>
            <a:pPr algn="ctr">
              <a:lnSpc>
                <a:spcPts val="1960"/>
              </a:lnSpc>
              <a:spcBef>
                <a:spcPct val="0"/>
              </a:spcBef>
            </a:pPr>
            <a:r>
              <a:rPr lang="en-US" sz="1400" spc="-56">
                <a:solidFill>
                  <a:srgbClr val="DEF0FF"/>
                </a:solidFill>
                <a:latin typeface="Telegraf"/>
                <a:ea typeface="Telegraf"/>
                <a:cs typeface="Telegraf"/>
                <a:sym typeface="Telegraf"/>
              </a:rPr>
              <a:t>Contact</a:t>
            </a:r>
          </a:p>
        </p:txBody>
      </p:sp>
      <p:sp>
        <p:nvSpPr>
          <p:cNvPr id="20" name="TextBox 20"/>
          <p:cNvSpPr txBox="1"/>
          <p:nvPr/>
        </p:nvSpPr>
        <p:spPr>
          <a:xfrm>
            <a:off x="6878436" y="657054"/>
            <a:ext cx="751945" cy="269240"/>
          </a:xfrm>
          <a:prstGeom prst="rect">
            <a:avLst/>
          </a:prstGeom>
        </p:spPr>
        <p:txBody>
          <a:bodyPr lIns="0" tIns="0" rIns="0" bIns="0" rtlCol="0" anchor="t">
            <a:spAutoFit/>
          </a:bodyPr>
          <a:lstStyle/>
          <a:p>
            <a:pPr algn="ctr">
              <a:lnSpc>
                <a:spcPts val="1960"/>
              </a:lnSpc>
              <a:spcBef>
                <a:spcPct val="0"/>
              </a:spcBef>
            </a:pPr>
            <a:r>
              <a:rPr lang="en-US" sz="1400" b="1" spc="-56">
                <a:solidFill>
                  <a:srgbClr val="DEF0FF"/>
                </a:solidFill>
                <a:latin typeface="Telegraf Bold"/>
                <a:ea typeface="Telegraf Bold"/>
                <a:cs typeface="Telegraf Bold"/>
                <a:sym typeface="Telegraf Bold"/>
              </a:rPr>
              <a:t>Home</a:t>
            </a:r>
          </a:p>
        </p:txBody>
      </p:sp>
      <p:sp>
        <p:nvSpPr>
          <p:cNvPr id="21" name="TextBox 21"/>
          <p:cNvSpPr txBox="1"/>
          <p:nvPr/>
        </p:nvSpPr>
        <p:spPr>
          <a:xfrm>
            <a:off x="7967106" y="657054"/>
            <a:ext cx="928073"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Services</a:t>
            </a:r>
          </a:p>
        </p:txBody>
      </p:sp>
      <p:sp>
        <p:nvSpPr>
          <p:cNvPr id="22" name="TextBox 22"/>
          <p:cNvSpPr txBox="1"/>
          <p:nvPr/>
        </p:nvSpPr>
        <p:spPr>
          <a:xfrm>
            <a:off x="10486033" y="657054"/>
            <a:ext cx="923532"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About Us</a:t>
            </a:r>
          </a:p>
        </p:txBody>
      </p:sp>
      <p:sp>
        <p:nvSpPr>
          <p:cNvPr id="23" name="TextBox 23"/>
          <p:cNvSpPr txBox="1"/>
          <p:nvPr/>
        </p:nvSpPr>
        <p:spPr>
          <a:xfrm>
            <a:off x="9231904" y="657054"/>
            <a:ext cx="917404" cy="269306"/>
          </a:xfrm>
          <a:prstGeom prst="rect">
            <a:avLst/>
          </a:prstGeom>
        </p:spPr>
        <p:txBody>
          <a:bodyPr lIns="0" tIns="0" rIns="0" bIns="0" rtlCol="0" anchor="t">
            <a:spAutoFit/>
          </a:bodyPr>
          <a:lstStyle/>
          <a:p>
            <a:pPr algn="ctr">
              <a:lnSpc>
                <a:spcPts val="1960"/>
              </a:lnSpc>
              <a:spcBef>
                <a:spcPct val="0"/>
              </a:spcBef>
            </a:pPr>
            <a:r>
              <a:rPr lang="en-US" sz="1400" spc="-56">
                <a:solidFill>
                  <a:srgbClr val="FFFFFF">
                    <a:alpha val="49804"/>
                  </a:srgbClr>
                </a:solidFill>
                <a:latin typeface="Telegraf"/>
                <a:ea typeface="Telegraf"/>
                <a:cs typeface="Telegraf"/>
                <a:sym typeface="Telegraf"/>
              </a:rPr>
              <a:t>Features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1344</Words>
  <Application>Microsoft Office PowerPoint</Application>
  <PresentationFormat>Custom</PresentationFormat>
  <Paragraphs>160</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Calibri</vt:lpstr>
      <vt:lpstr>RQND Pro UltraWide</vt:lpstr>
      <vt:lpstr>Telegraf</vt:lpstr>
      <vt:lpstr>Telegraf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UTS_DeepLearningA</dc:title>
  <cp:lastModifiedBy>Advan</cp:lastModifiedBy>
  <cp:revision>2</cp:revision>
  <dcterms:created xsi:type="dcterms:W3CDTF">2006-08-16T00:00:00Z</dcterms:created>
  <dcterms:modified xsi:type="dcterms:W3CDTF">2026-10-06T12:45:34Z</dcterms:modified>
  <dc:identifier>DAHXJpSKjxU</dc:identifier>
</cp:coreProperties>
</file>